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56032" y="4709160"/>
            <a:ext cx="6035040" cy="1737360"/>
          </a:xfrm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 dirty="0">
                <a:solidFill>
                  <a:srgbClr val="102B47"/>
                </a:solidFill>
                <a:latin typeface="Segoe UI"/>
              </a:rPr>
              <a:t>SAFETYAI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dirty="0">
                <a:solidFill>
                  <a:srgbClr val="556677"/>
                </a:solidFill>
                <a:latin typeface="Segoe UI"/>
              </a:rPr>
              <a:t>AI-Powered SIF Precursor Detection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dirty="0">
                <a:solidFill>
                  <a:srgbClr val="556677"/>
                </a:solidFill>
                <a:latin typeface="Segoe UI"/>
              </a:rPr>
              <a:t>for Safety Reports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 algn="l"/>
            <a:r>
              <a:rPr sz="3000" b="1" i="0">
                <a:solidFill>
                  <a:srgbClr val="102B47"/>
                </a:solidFill>
                <a:latin typeface="Segoe UI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6032" y="1481328"/>
            <a:ext cx="5760720" cy="3840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70C0"/>
                </a:solidFill>
                <a:latin typeface="Segoe UI"/>
              </a:rPr>
              <a:t>Problem Statement ID – SIH26165</a:t>
            </a:r>
            <a:endParaRPr lang="en-US" dirty="0"/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B47"/>
                </a:solidFill>
                <a:latin typeface="Segoe UI"/>
              </a:rPr>
              <a:t>Problem Statement Title 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12F3D"/>
                </a:solidFill>
                <a:latin typeface="Segoe UI"/>
              </a:rPr>
              <a:t>AI/NLP Engine to Detect Serious Injury &amp;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12F3D"/>
                </a:solidFill>
                <a:latin typeface="Segoe UI"/>
              </a:rPr>
              <a:t>Fatality (SIF) Precursors in Safety Reports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250" b="0" i="0">
              <a:solidFill>
                <a:srgbClr val="212F3D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B47"/>
                </a:solidFill>
                <a:latin typeface="Segoe UI"/>
              </a:rPr>
              <a:t>Theme – Smart Automation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B47"/>
                </a:solidFill>
                <a:latin typeface="Segoe UI"/>
              </a:rPr>
              <a:t>PS Category – Software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6677"/>
                </a:solidFill>
                <a:latin typeface="Segoe UI"/>
              </a:rPr>
              <a:t>Team ID – [As Registered on SIH Portal]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B47"/>
                </a:solidFill>
                <a:latin typeface="Segoe UI"/>
              </a:rPr>
              <a:t>Team Name – NEXORA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228600" y="1024128"/>
            <a:ext cx="2377440" cy="4114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502920" y="146304"/>
            <a:ext cx="11183112" cy="731520"/>
          </a:xfrm>
        </p:spPr>
        <p:txBody>
          <a:bodyPr wrap="square" lIns="0" tIns="0" rIns="0" bIns="0" anchor="ctr"/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sz="2700" b="1" i="0">
                <a:solidFill>
                  <a:srgbClr val="102B47"/>
                </a:solidFill>
                <a:latin typeface="Segoe UI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102B47"/>
          </a:solidFill>
          <a:ln w="12700">
            <a:solidFill>
              <a:srgbClr val="0070C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NEXORA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ectangle 15361"/>
          <p:cNvSpPr/>
          <p:nvPr/>
        </p:nvSpPr>
        <p:spPr>
          <a:xfrm>
            <a:off x="5596128" y="950976"/>
            <a:ext cx="100584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3" name="Rounded Rectangle 15362"/>
          <p:cNvSpPr/>
          <p:nvPr/>
        </p:nvSpPr>
        <p:spPr>
          <a:xfrm>
            <a:off x="502920" y="1078992"/>
            <a:ext cx="11185855" cy="329184"/>
          </a:xfrm>
          <a:prstGeom prst="roundRect">
            <a:avLst>
              <a:gd name="adj" fmla="val 16000"/>
            </a:avLst>
          </a:prstGeom>
          <a:solidFill>
            <a:srgbClr val="10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THE PROBLEM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502920" y="1499616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80" b="1" i="0">
                <a:solidFill>
                  <a:srgbClr val="0070C0"/>
                </a:solidFill>
                <a:latin typeface="Segoe UI"/>
              </a:rPr>
              <a:t>●</a:t>
            </a:r>
            <a:r>
              <a:rPr sz="1000" b="0" i="0">
                <a:solidFill>
                  <a:srgbClr val="212F3D"/>
                </a:solidFill>
                <a:latin typeface="Segoe UI"/>
              </a:rPr>
              <a:t>  Safety reports (unsafe acts, unsafe conditions, near-misses) contain critical SIF precursor signals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502920" y="1783080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80" b="1" i="0">
                <a:solidFill>
                  <a:srgbClr val="0070C0"/>
                </a:solidFill>
                <a:latin typeface="Segoe UI"/>
              </a:rPr>
              <a:t>●</a:t>
            </a:r>
            <a:r>
              <a:rPr sz="1000" b="0" i="0">
                <a:solidFill>
                  <a:srgbClr val="212F3D"/>
                </a:solidFill>
                <a:latin typeface="Segoe UI"/>
              </a:rPr>
              <a:t>  Manual analysis is slow, inconsistent, and risks missing serious warnings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502920" y="2066543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80" b="1" i="0">
                <a:solidFill>
                  <a:srgbClr val="0070C0"/>
                </a:solidFill>
                <a:latin typeface="Segoe UI"/>
              </a:rPr>
              <a:t>●</a:t>
            </a:r>
            <a:r>
              <a:rPr sz="1000" b="0" i="0">
                <a:solidFill>
                  <a:srgbClr val="212F3D"/>
                </a:solidFill>
                <a:latin typeface="Segoe UI"/>
              </a:rPr>
              <a:t>  HSE teams need a fast, repeatable way to identify which reports signal potential SIF events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502920" y="2487168"/>
            <a:ext cx="11185855" cy="329184"/>
          </a:xfrm>
          <a:prstGeom prst="roundRect">
            <a:avLst>
              <a:gd name="adj" fmla="val 16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THE SAFETYAI SOLUTION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502920" y="2889504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12F3D"/>
                </a:solidFill>
                <a:latin typeface="Segoe UI"/>
              </a:rPr>
              <a:t>  SafetyAI is a working web application that analyzes any free-text safety report and returns structured SIF risk intelligence.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609447" y="3182112"/>
            <a:ext cx="1645920" cy="713232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USER ENTERS
SAFETY REPORT</a:t>
            </a:r>
          </a:p>
        </p:txBody>
      </p:sp>
      <p:sp>
        <p:nvSpPr>
          <p:cNvPr id="15370" name="Right Arrow 15369"/>
          <p:cNvSpPr/>
          <p:nvPr/>
        </p:nvSpPr>
        <p:spPr>
          <a:xfrm>
            <a:off x="2273655" y="3429000"/>
            <a:ext cx="182880" cy="219456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1" name="Rounded Rectangle 15370"/>
          <p:cNvSpPr/>
          <p:nvPr/>
        </p:nvSpPr>
        <p:spPr>
          <a:xfrm>
            <a:off x="2474823" y="3182112"/>
            <a:ext cx="1645920" cy="713232"/>
          </a:xfrm>
          <a:prstGeom prst="roundRect">
            <a:avLst>
              <a:gd name="adj" fmla="val 8000"/>
            </a:avLst>
          </a:prstGeom>
          <a:solidFill>
            <a:srgbClr val="14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FLASK
BACKEND API</a:t>
            </a:r>
          </a:p>
        </p:txBody>
      </p:sp>
      <p:sp>
        <p:nvSpPr>
          <p:cNvPr id="15372" name="Right Arrow 15371"/>
          <p:cNvSpPr/>
          <p:nvPr/>
        </p:nvSpPr>
        <p:spPr>
          <a:xfrm>
            <a:off x="4139031" y="3429000"/>
            <a:ext cx="182880" cy="219456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3" name="Rounded Rectangle 15372"/>
          <p:cNvSpPr/>
          <p:nvPr/>
        </p:nvSpPr>
        <p:spPr>
          <a:xfrm>
            <a:off x="4340199" y="3182112"/>
            <a:ext cx="1645920" cy="713232"/>
          </a:xfrm>
          <a:prstGeom prst="roundRect">
            <a:avLst>
              <a:gd name="adj" fmla="val 8000"/>
            </a:avLst>
          </a:prstGeom>
          <a:solidFill>
            <a:srgbClr val="2E5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TF-IDF +
LOGISTIC REG.</a:t>
            </a:r>
          </a:p>
        </p:txBody>
      </p:sp>
      <p:sp>
        <p:nvSpPr>
          <p:cNvPr id="15374" name="Right Arrow 15373"/>
          <p:cNvSpPr/>
          <p:nvPr/>
        </p:nvSpPr>
        <p:spPr>
          <a:xfrm>
            <a:off x="6004407" y="3429000"/>
            <a:ext cx="182880" cy="219456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5" name="Rounded Rectangle 15374"/>
          <p:cNvSpPr/>
          <p:nvPr/>
        </p:nvSpPr>
        <p:spPr>
          <a:xfrm>
            <a:off x="6205575" y="3182112"/>
            <a:ext cx="1645920" cy="713232"/>
          </a:xfrm>
          <a:prstGeom prst="roundRect">
            <a:avLst>
              <a:gd name="adj" fmla="val 8000"/>
            </a:avLst>
          </a:prstGeom>
          <a:solidFill>
            <a:srgbClr val="B4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SAFETY
CONSISTENCY GUARD</a:t>
            </a:r>
          </a:p>
        </p:txBody>
      </p:sp>
      <p:sp>
        <p:nvSpPr>
          <p:cNvPr id="15376" name="Right Arrow 15375"/>
          <p:cNvSpPr/>
          <p:nvPr/>
        </p:nvSpPr>
        <p:spPr>
          <a:xfrm>
            <a:off x="7869783" y="3429000"/>
            <a:ext cx="182880" cy="219456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7" name="Rounded Rectangle 15376"/>
          <p:cNvSpPr/>
          <p:nvPr/>
        </p:nvSpPr>
        <p:spPr>
          <a:xfrm>
            <a:off x="8070951" y="3182112"/>
            <a:ext cx="1645920" cy="713232"/>
          </a:xfrm>
          <a:prstGeom prst="roundRect">
            <a:avLst>
              <a:gd name="adj" fmla="val 8000"/>
            </a:avLst>
          </a:prstGeom>
          <a:solidFill>
            <a:srgbClr val="B01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RISK OUTPUT
HIGH/MED/LOW</a:t>
            </a:r>
          </a:p>
        </p:txBody>
      </p:sp>
      <p:sp>
        <p:nvSpPr>
          <p:cNvPr id="15378" name="Right Arrow 15377"/>
          <p:cNvSpPr/>
          <p:nvPr/>
        </p:nvSpPr>
        <p:spPr>
          <a:xfrm>
            <a:off x="9735159" y="3429000"/>
            <a:ext cx="182880" cy="219456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9" name="Rounded Rectangle 15378"/>
          <p:cNvSpPr/>
          <p:nvPr/>
        </p:nvSpPr>
        <p:spPr>
          <a:xfrm>
            <a:off x="9936327" y="3182112"/>
            <a:ext cx="1645920" cy="713232"/>
          </a:xfrm>
          <a:prstGeom prst="roundRect">
            <a:avLst>
              <a:gd name="adj" fmla="val 8000"/>
            </a:avLst>
          </a:prstGeom>
          <a:solidFill>
            <a:srgbClr val="0E7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DASHBOARD
+ HISTORY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502920" y="4041648"/>
            <a:ext cx="5501487" cy="329184"/>
          </a:xfrm>
          <a:prstGeom prst="roundRect">
            <a:avLst>
              <a:gd name="adj" fmla="val 16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WHAT IT PRODUCES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6187287" y="4041648"/>
            <a:ext cx="5501487" cy="329184"/>
          </a:xfrm>
          <a:prstGeom prst="roundRect">
            <a:avLst>
              <a:gd name="adj" fmla="val 16000"/>
            </a:avLst>
          </a:prstGeom>
          <a:solidFill>
            <a:srgbClr val="10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WHAT IS NOVEL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502920" y="4498848"/>
            <a:ext cx="5501487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60" b="1" i="0">
                <a:solidFill>
                  <a:srgbClr val="0E743F"/>
                </a:solidFill>
                <a:latin typeface="Segoe UI"/>
              </a:rPr>
              <a:t>✓</a:t>
            </a:r>
            <a:r>
              <a:rPr sz="980" b="0" i="0">
                <a:solidFill>
                  <a:srgbClr val="212F3D"/>
                </a:solidFill>
                <a:latin typeface="Segoe UI"/>
              </a:rPr>
              <a:t>  SIF risk level: HIGH / MEDIUM / LOW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502920" y="4753051"/>
            <a:ext cx="5501487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60" b="1" i="0">
                <a:solidFill>
                  <a:srgbClr val="0E743F"/>
                </a:solidFill>
                <a:latin typeface="Segoe UI"/>
              </a:rPr>
              <a:t>✓</a:t>
            </a:r>
            <a:r>
              <a:rPr sz="980" b="0" i="0">
                <a:solidFill>
                  <a:srgbClr val="212F3D"/>
                </a:solidFill>
                <a:latin typeface="Segoe UI"/>
              </a:rPr>
              <a:t>  Model confidence score (0–100%)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502920" y="5007254"/>
            <a:ext cx="5501487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60" b="1" i="0">
                <a:solidFill>
                  <a:srgbClr val="0E743F"/>
                </a:solidFill>
                <a:latin typeface="Segoe UI"/>
              </a:rPr>
              <a:t>✓</a:t>
            </a:r>
            <a:r>
              <a:rPr sz="980" b="0" i="0">
                <a:solidFill>
                  <a:srgbClr val="212F3D"/>
                </a:solidFill>
                <a:latin typeface="Segoe UI"/>
              </a:rPr>
              <a:t>  Detected hazard (9 categories)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502920" y="5261457"/>
            <a:ext cx="5501487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60" b="1" i="0">
                <a:solidFill>
                  <a:srgbClr val="0E743F"/>
                </a:solidFill>
                <a:latin typeface="Segoe UI"/>
              </a:rPr>
              <a:t>✓</a:t>
            </a:r>
            <a:r>
              <a:rPr sz="980" b="0" i="0">
                <a:solidFill>
                  <a:srgbClr val="212F3D"/>
                </a:solidFill>
                <a:latin typeface="Segoe UI"/>
              </a:rPr>
              <a:t>  Detected activity (8 categories)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502920" y="5515660"/>
            <a:ext cx="5501487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60" b="1" i="0">
                <a:solidFill>
                  <a:srgbClr val="0E743F"/>
                </a:solidFill>
                <a:latin typeface="Segoe UI"/>
              </a:rPr>
              <a:t>✓</a:t>
            </a:r>
            <a:r>
              <a:rPr sz="980" b="0" i="0">
                <a:solidFill>
                  <a:srgbClr val="212F3D"/>
                </a:solidFill>
                <a:latin typeface="Segoe UI"/>
              </a:rPr>
              <a:t>  Barrier failure identified (9 types)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502920" y="5769864"/>
            <a:ext cx="5501487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60" b="1" i="0">
                <a:solidFill>
                  <a:srgbClr val="0E743F"/>
                </a:solidFill>
                <a:latin typeface="Segoe UI"/>
              </a:rPr>
              <a:t>✓</a:t>
            </a:r>
            <a:r>
              <a:rPr sz="980" b="0" i="0">
                <a:solidFill>
                  <a:srgbClr val="212F3D"/>
                </a:solidFill>
                <a:latin typeface="Segoe UI"/>
              </a:rPr>
              <a:t>  Matched Life-Saving Rule (9 rules)</a:t>
            </a:r>
          </a:p>
        </p:txBody>
      </p:sp>
      <p:sp>
        <p:nvSpPr>
          <p:cNvPr id="15388" name="TextBox 15387"/>
          <p:cNvSpPr txBox="1"/>
          <p:nvPr/>
        </p:nvSpPr>
        <p:spPr>
          <a:xfrm>
            <a:off x="502920" y="6024067"/>
            <a:ext cx="5501487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60" b="1" i="0">
                <a:solidFill>
                  <a:srgbClr val="0E743F"/>
                </a:solidFill>
                <a:latin typeface="Segoe UI"/>
              </a:rPr>
              <a:t>✓</a:t>
            </a:r>
            <a:r>
              <a:rPr sz="980" b="0" i="0">
                <a:solidFill>
                  <a:srgbClr val="212F3D"/>
                </a:solidFill>
                <a:latin typeface="Segoe UI"/>
              </a:rPr>
              <a:t>  Evidence-based explanation + action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6187287" y="4498848"/>
            <a:ext cx="5501487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60" b="1" i="0">
                <a:solidFill>
                  <a:srgbClr val="145A9E"/>
                </a:solidFill>
                <a:latin typeface="Segoe UI"/>
              </a:rPr>
              <a:t>•</a:t>
            </a:r>
            <a:r>
              <a:rPr sz="980" b="0" i="0">
                <a:solidFill>
                  <a:srgbClr val="212F3D"/>
                </a:solidFill>
                <a:latin typeface="Segoe UI"/>
              </a:rPr>
              <a:t>  Safety Consistency Guard: rule-based override layer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6187287" y="4753051"/>
            <a:ext cx="5501487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60" b="1" i="0">
                <a:solidFill>
                  <a:srgbClr val="145A9E"/>
                </a:solidFill>
                <a:latin typeface="Segoe UI"/>
              </a:rPr>
              <a:t>•</a:t>
            </a:r>
            <a:r>
              <a:rPr sz="980" b="0" i="0">
                <a:solidFill>
                  <a:srgbClr val="212F3D"/>
                </a:solidFill>
                <a:latin typeface="Segoe UI"/>
              </a:rPr>
              <a:t>  Transparent ML with feature-weight indicators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6187287" y="5007254"/>
            <a:ext cx="5501487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60" b="1" i="0">
                <a:solidFill>
                  <a:srgbClr val="145A9E"/>
                </a:solidFill>
                <a:latin typeface="Segoe UI"/>
              </a:rPr>
              <a:t>•</a:t>
            </a:r>
            <a:r>
              <a:rPr sz="980" b="0" i="0">
                <a:solidFill>
                  <a:srgbClr val="212F3D"/>
                </a:solidFill>
                <a:latin typeface="Segoe UI"/>
              </a:rPr>
              <a:t>  Hybrid: ML prediction + keyword safety enrichment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6187287" y="5261457"/>
            <a:ext cx="5501487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60" b="1" i="0">
                <a:solidFill>
                  <a:srgbClr val="145A9E"/>
                </a:solidFill>
                <a:latin typeface="Segoe UI"/>
              </a:rPr>
              <a:t>•</a:t>
            </a:r>
            <a:r>
              <a:rPr sz="980" b="0" i="0">
                <a:solidFill>
                  <a:srgbClr val="212F3D"/>
                </a:solidFill>
                <a:latin typeface="Segoe UI"/>
              </a:rPr>
              <a:t>  Low-confidence flagging (&lt; 50% threshold)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6187287" y="5515660"/>
            <a:ext cx="5501487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60" b="1" i="0">
                <a:solidFill>
                  <a:srgbClr val="145A9E"/>
                </a:solidFill>
                <a:latin typeface="Segoe UI"/>
              </a:rPr>
              <a:t>•</a:t>
            </a:r>
            <a:r>
              <a:rPr sz="980" b="0" i="0">
                <a:solidFill>
                  <a:srgbClr val="212F3D"/>
                </a:solidFill>
                <a:latin typeface="Segoe UI"/>
              </a:rPr>
              <a:t>  Full audit trail in SQLite database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6187287" y="5769864"/>
            <a:ext cx="5501487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60" b="1" i="0">
                <a:solidFill>
                  <a:srgbClr val="145A9E"/>
                </a:solidFill>
                <a:latin typeface="Segoe UI"/>
              </a:rPr>
              <a:t>•</a:t>
            </a:r>
            <a:r>
              <a:rPr sz="980" b="0" i="0">
                <a:solidFill>
                  <a:srgbClr val="212F3D"/>
                </a:solidFill>
                <a:latin typeface="Segoe UI"/>
              </a:rPr>
              <a:t>  Four-section dashboard web interface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02920" y="146304"/>
            <a:ext cx="11183112" cy="731520"/>
          </a:xfrm>
        </p:spPr>
        <p:txBody>
          <a:bodyPr wrap="square" lIns="0" tIns="0" rIns="0" bIns="0" anchor="ctr"/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B47"/>
                </a:solidFill>
                <a:latin typeface="Segoe UI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102B47"/>
          </a:solidFill>
          <a:ln w="12700">
            <a:solidFill>
              <a:srgbClr val="0070C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NEXORA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5596128" y="950976"/>
            <a:ext cx="100584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078992"/>
            <a:ext cx="2679877" cy="676656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SAFETY REPORT
Text Input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02920" y="1755648"/>
            <a:ext cx="2679877" cy="512064"/>
          </a:xfrm>
          <a:prstGeom prst="roundRect">
            <a:avLst>
              <a:gd name="adj" fmla="val 8000"/>
            </a:avLst>
          </a:prstGeom>
          <a:solidFill>
            <a:srgbClr val="ECF4FC"/>
          </a:solidFill>
          <a:ln w="9525">
            <a:solidFill>
              <a:srgbClr val="C9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5A9E"/>
                </a:solidFill>
                <a:latin typeface="Segoe UI"/>
              </a:rPr>
              <a:t>Free-text: unsafe act,
unsafe condition,
near-miss report</a:t>
            </a:r>
          </a:p>
        </p:txBody>
      </p:sp>
      <p:sp>
        <p:nvSpPr>
          <p:cNvPr id="17413" name="Right Arrow 17412"/>
          <p:cNvSpPr/>
          <p:nvPr/>
        </p:nvSpPr>
        <p:spPr>
          <a:xfrm>
            <a:off x="3196513" y="1289304"/>
            <a:ext cx="128016" cy="201168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Rounded Rectangle 17413"/>
          <p:cNvSpPr/>
          <p:nvPr/>
        </p:nvSpPr>
        <p:spPr>
          <a:xfrm>
            <a:off x="3338245" y="1078992"/>
            <a:ext cx="2679877" cy="676656"/>
          </a:xfrm>
          <a:prstGeom prst="roundRect">
            <a:avLst>
              <a:gd name="adj" fmla="val 8000"/>
            </a:avLst>
          </a:prstGeom>
          <a:solidFill>
            <a:srgbClr val="14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TEXT
PREPROCESSING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338245" y="1755648"/>
            <a:ext cx="2679877" cy="512064"/>
          </a:xfrm>
          <a:prstGeom prst="roundRect">
            <a:avLst>
              <a:gd name="adj" fmla="val 8000"/>
            </a:avLst>
          </a:prstGeom>
          <a:solidFill>
            <a:srgbClr val="ECF4FC"/>
          </a:solidFill>
          <a:ln w="9525">
            <a:solidFill>
              <a:srgbClr val="C9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5A9E"/>
                </a:solidFill>
                <a:latin typeface="Segoe UI"/>
              </a:rPr>
              <a:t>lowercase  |  stop-word
removal  |  normalize</a:t>
            </a:r>
          </a:p>
        </p:txBody>
      </p:sp>
      <p:sp>
        <p:nvSpPr>
          <p:cNvPr id="17416" name="Right Arrow 17415"/>
          <p:cNvSpPr/>
          <p:nvPr/>
        </p:nvSpPr>
        <p:spPr>
          <a:xfrm>
            <a:off x="6031839" y="1289304"/>
            <a:ext cx="128016" cy="201168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Rounded Rectangle 17416"/>
          <p:cNvSpPr/>
          <p:nvPr/>
        </p:nvSpPr>
        <p:spPr>
          <a:xfrm>
            <a:off x="6173571" y="1078992"/>
            <a:ext cx="2679877" cy="676656"/>
          </a:xfrm>
          <a:prstGeom prst="roundRect">
            <a:avLst>
              <a:gd name="adj" fmla="val 8000"/>
            </a:avLst>
          </a:prstGeom>
          <a:solidFill>
            <a:srgbClr val="2E5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TF-IDF
VECTORIZATION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173571" y="1755648"/>
            <a:ext cx="2679877" cy="512064"/>
          </a:xfrm>
          <a:prstGeom prst="roundRect">
            <a:avLst>
              <a:gd name="adj" fmla="val 8000"/>
            </a:avLst>
          </a:prstGeom>
          <a:solidFill>
            <a:srgbClr val="ECF4FC"/>
          </a:solidFill>
          <a:ln w="9525">
            <a:solidFill>
              <a:srgbClr val="C9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5A9E"/>
                </a:solidFill>
                <a:latin typeface="Segoe UI"/>
              </a:rPr>
              <a:t>Unigrams + bigrams
(1,2)-gram  |  min_df=1</a:t>
            </a:r>
          </a:p>
        </p:txBody>
      </p:sp>
      <p:sp>
        <p:nvSpPr>
          <p:cNvPr id="17419" name="Right Arrow 17418"/>
          <p:cNvSpPr/>
          <p:nvPr/>
        </p:nvSpPr>
        <p:spPr>
          <a:xfrm>
            <a:off x="8867165" y="1289304"/>
            <a:ext cx="128016" cy="201168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Rounded Rectangle 17419"/>
          <p:cNvSpPr/>
          <p:nvPr/>
        </p:nvSpPr>
        <p:spPr>
          <a:xfrm>
            <a:off x="9008897" y="1078992"/>
            <a:ext cx="2679877" cy="676656"/>
          </a:xfrm>
          <a:prstGeom prst="roundRect">
            <a:avLst>
              <a:gd name="adj" fmla="val 8000"/>
            </a:avLst>
          </a:prstGeom>
          <a:solidFill>
            <a:srgbClr val="10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LOGISTIC
REGRESSION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9008897" y="1755648"/>
            <a:ext cx="2679877" cy="512064"/>
          </a:xfrm>
          <a:prstGeom prst="roundRect">
            <a:avLst>
              <a:gd name="adj" fmla="val 8000"/>
            </a:avLst>
          </a:prstGeom>
          <a:solidFill>
            <a:srgbClr val="ECF4FC"/>
          </a:solidFill>
          <a:ln w="9525">
            <a:solidFill>
              <a:srgbClr val="C9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5A9E"/>
                </a:solidFill>
                <a:latin typeface="Segoe UI"/>
              </a:rPr>
              <a:t>sklearn Pipeline
max_iter=2000  seed=42</a:t>
            </a:r>
          </a:p>
        </p:txBody>
      </p:sp>
      <p:sp>
        <p:nvSpPr>
          <p:cNvPr id="17422" name="Down Arrow 17421"/>
          <p:cNvSpPr/>
          <p:nvPr/>
        </p:nvSpPr>
        <p:spPr>
          <a:xfrm>
            <a:off x="5961888" y="2322576"/>
            <a:ext cx="274320" cy="274320"/>
          </a:xfrm>
          <a:prstGeom prst="downArrow">
            <a:avLst/>
          </a:prstGeom>
          <a:solidFill>
            <a:srgbClr val="B4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Rectangle 17422"/>
          <p:cNvSpPr/>
          <p:nvPr/>
        </p:nvSpPr>
        <p:spPr>
          <a:xfrm>
            <a:off x="502920" y="2688336"/>
            <a:ext cx="82296" cy="950976"/>
          </a:xfrm>
          <a:prstGeom prst="rect">
            <a:avLst/>
          </a:prstGeom>
          <a:solidFill>
            <a:srgbClr val="B4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Rounded Rectangle 17423"/>
          <p:cNvSpPr/>
          <p:nvPr/>
        </p:nvSpPr>
        <p:spPr>
          <a:xfrm>
            <a:off x="585216" y="2688336"/>
            <a:ext cx="11103559" cy="950976"/>
          </a:xfrm>
          <a:prstGeom prst="roundRect">
            <a:avLst>
              <a:gd name="adj" fmla="val 8000"/>
            </a:avLst>
          </a:prstGeom>
          <a:solidFill>
            <a:srgbClr val="FBF0DF"/>
          </a:solidFill>
          <a:ln w="12700">
            <a:solidFill>
              <a:srgbClr val="B4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B45A00"/>
                </a:solidFill>
                <a:latin typeface="Segoe UI"/>
              </a:rPr>
              <a:t>SAFETY CONSISTENCY GUARD  —  Rule-based override layer (runs in parallel with ML)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12F3D"/>
                </a:solidFill>
                <a:latin typeface="Segoe UI"/>
              </a:rPr>
              <a:t>  Barrier Failure detected = </a:t>
            </a:r>
            <a:r>
              <a:rPr sz="900" b="1" i="0">
                <a:solidFill>
                  <a:srgbClr val="B45A00"/>
                </a:solidFill>
                <a:latin typeface="Segoe UI"/>
              </a:rPr>
              <a:t>3 pts</a:t>
            </a:r>
            <a:r>
              <a:rPr sz="900" b="0" i="0">
                <a:solidFill>
                  <a:srgbClr val="212F3D"/>
                </a:solidFill>
                <a:latin typeface="Segoe UI"/>
              </a:rPr>
              <a:t>  |  Critical Hazard = </a:t>
            </a:r>
            <a:r>
              <a:rPr sz="900" b="1" i="0">
                <a:solidFill>
                  <a:srgbClr val="B45A00"/>
                </a:solidFill>
                <a:latin typeface="Segoe UI"/>
              </a:rPr>
              <a:t>2 pts</a:t>
            </a:r>
            <a:r>
              <a:rPr sz="900" b="0" i="0">
                <a:solidFill>
                  <a:srgbClr val="212F3D"/>
                </a:solidFill>
                <a:latin typeface="Segoe UI"/>
              </a:rPr>
              <a:t>  |  Life-Saving Rule match = </a:t>
            </a:r>
            <a:r>
              <a:rPr sz="900" b="1" i="0">
                <a:solidFill>
                  <a:srgbClr val="B45A00"/>
                </a:solidFill>
                <a:latin typeface="Segoe UI"/>
              </a:rPr>
              <a:t>1 pt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12F3D"/>
                </a:solidFill>
                <a:latin typeface="Segoe UI"/>
              </a:rPr>
              <a:t>  Score </a:t>
            </a:r>
            <a:r>
              <a:rPr sz="900" b="1" i="0">
                <a:solidFill>
                  <a:srgbClr val="B45A00"/>
                </a:solidFill>
                <a:latin typeface="Segoe UI"/>
              </a:rPr>
              <a:t>≥ 6</a:t>
            </a:r>
            <a:r>
              <a:rPr sz="900" b="0" i="0">
                <a:solidFill>
                  <a:srgbClr val="212F3D"/>
                </a:solidFill>
                <a:latin typeface="Segoe UI"/>
              </a:rPr>
              <a:t> → escalate to HIGH   |   Score </a:t>
            </a:r>
            <a:r>
              <a:rPr sz="900" b="1" i="0">
                <a:solidFill>
                  <a:srgbClr val="B45A00"/>
                </a:solidFill>
                <a:latin typeface="Segoe UI"/>
              </a:rPr>
              <a:t>≥ 3</a:t>
            </a:r>
            <a:r>
              <a:rPr sz="900" b="0" i="0">
                <a:solidFill>
                  <a:srgbClr val="212F3D"/>
                </a:solidFill>
                <a:latin typeface="Segoe UI"/>
              </a:rPr>
              <a:t> → minimum MEDIUM   |   Score </a:t>
            </a:r>
            <a:r>
              <a:rPr sz="900" b="1" i="0">
                <a:solidFill>
                  <a:srgbClr val="B45A00"/>
                </a:solidFill>
                <a:latin typeface="Segoe UI"/>
              </a:rPr>
              <a:t>&lt; 3</a:t>
            </a:r>
            <a:r>
              <a:rPr sz="900" b="0" i="0">
                <a:solidFill>
                  <a:srgbClr val="212F3D"/>
                </a:solidFill>
                <a:latin typeface="Segoe UI"/>
              </a:rPr>
              <a:t> → ML prediction stands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502920" y="3749039"/>
            <a:ext cx="2679877" cy="676656"/>
          </a:xfrm>
          <a:prstGeom prst="roundRect">
            <a:avLst>
              <a:gd name="adj" fmla="val 8000"/>
            </a:avLst>
          </a:prstGeom>
          <a:solidFill>
            <a:srgbClr val="B01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SIF RISK
CLASSIFICATION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502920" y="4425696"/>
            <a:ext cx="2679877" cy="512064"/>
          </a:xfrm>
          <a:prstGeom prst="roundRect">
            <a:avLst>
              <a:gd name="adj" fmla="val 8000"/>
            </a:avLst>
          </a:prstGeom>
          <a:solidFill>
            <a:srgbClr val="ECF4FC"/>
          </a:solidFill>
          <a:ln w="9525">
            <a:solidFill>
              <a:srgbClr val="C9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5A9E"/>
                </a:solidFill>
                <a:latin typeface="Segoe UI"/>
              </a:rPr>
              <a:t>HIGH / MEDIUM / LOW
+ confidence score</a:t>
            </a:r>
          </a:p>
        </p:txBody>
      </p:sp>
      <p:sp>
        <p:nvSpPr>
          <p:cNvPr id="17427" name="Right Arrow 17426"/>
          <p:cNvSpPr/>
          <p:nvPr/>
        </p:nvSpPr>
        <p:spPr>
          <a:xfrm>
            <a:off x="3196513" y="3959351"/>
            <a:ext cx="128016" cy="201168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Rounded Rectangle 17427"/>
          <p:cNvSpPr/>
          <p:nvPr/>
        </p:nvSpPr>
        <p:spPr>
          <a:xfrm>
            <a:off x="3338245" y="3749039"/>
            <a:ext cx="2679877" cy="676656"/>
          </a:xfrm>
          <a:prstGeom prst="roundRect">
            <a:avLst>
              <a:gd name="adj" fmla="val 8000"/>
            </a:avLst>
          </a:prstGeom>
          <a:solidFill>
            <a:srgbClr val="C75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SAFETY
INTELLIGENCE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3338245" y="4425696"/>
            <a:ext cx="2679877" cy="512064"/>
          </a:xfrm>
          <a:prstGeom prst="roundRect">
            <a:avLst>
              <a:gd name="adj" fmla="val 8000"/>
            </a:avLst>
          </a:prstGeom>
          <a:solidFill>
            <a:srgbClr val="ECF4FC"/>
          </a:solidFill>
          <a:ln w="9525">
            <a:solidFill>
              <a:srgbClr val="C9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5A9E"/>
                </a:solidFill>
                <a:latin typeface="Segoe UI"/>
              </a:rPr>
              <a:t>Hazard  |  Activity
Barrier Failure  |  LSR</a:t>
            </a:r>
          </a:p>
        </p:txBody>
      </p:sp>
      <p:sp>
        <p:nvSpPr>
          <p:cNvPr id="17430" name="Right Arrow 17429"/>
          <p:cNvSpPr/>
          <p:nvPr/>
        </p:nvSpPr>
        <p:spPr>
          <a:xfrm>
            <a:off x="6031839" y="3959351"/>
            <a:ext cx="128016" cy="201168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Rounded Rectangle 17430"/>
          <p:cNvSpPr/>
          <p:nvPr/>
        </p:nvSpPr>
        <p:spPr>
          <a:xfrm>
            <a:off x="6173571" y="3749039"/>
            <a:ext cx="2679877" cy="676656"/>
          </a:xfrm>
          <a:prstGeom prst="roundRect">
            <a:avLst>
              <a:gd name="adj" fmla="val 8000"/>
            </a:avLst>
          </a:prstGeom>
          <a:solidFill>
            <a:srgbClr val="14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RECOMMENDED
ACTION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6173571" y="4425696"/>
            <a:ext cx="2679877" cy="512064"/>
          </a:xfrm>
          <a:prstGeom prst="roundRect">
            <a:avLst>
              <a:gd name="adj" fmla="val 8000"/>
            </a:avLst>
          </a:prstGeom>
          <a:solidFill>
            <a:srgbClr val="ECF4FC"/>
          </a:solidFill>
          <a:ln w="9525">
            <a:solidFill>
              <a:srgbClr val="C9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5A9E"/>
                </a:solidFill>
                <a:latin typeface="Segoe UI"/>
              </a:rPr>
              <a:t>Rule-specific action
or risk-level action</a:t>
            </a:r>
          </a:p>
        </p:txBody>
      </p:sp>
      <p:sp>
        <p:nvSpPr>
          <p:cNvPr id="17433" name="Right Arrow 17432"/>
          <p:cNvSpPr/>
          <p:nvPr/>
        </p:nvSpPr>
        <p:spPr>
          <a:xfrm>
            <a:off x="8867165" y="3959351"/>
            <a:ext cx="128016" cy="201168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Rounded Rectangle 17433"/>
          <p:cNvSpPr/>
          <p:nvPr/>
        </p:nvSpPr>
        <p:spPr>
          <a:xfrm>
            <a:off x="9008897" y="3749039"/>
            <a:ext cx="2679877" cy="676656"/>
          </a:xfrm>
          <a:prstGeom prst="roundRect">
            <a:avLst>
              <a:gd name="adj" fmla="val 8000"/>
            </a:avLst>
          </a:prstGeom>
          <a:solidFill>
            <a:srgbClr val="0E7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SQLite DB
+ DASHBOARD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9008897" y="4425696"/>
            <a:ext cx="2679877" cy="512064"/>
          </a:xfrm>
          <a:prstGeom prst="roundRect">
            <a:avLst>
              <a:gd name="adj" fmla="val 8000"/>
            </a:avLst>
          </a:prstGeom>
          <a:solidFill>
            <a:srgbClr val="ECF4FC"/>
          </a:solidFill>
          <a:ln w="9525">
            <a:solidFill>
              <a:srgbClr val="C9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5A9E"/>
                </a:solidFill>
                <a:latin typeface="Segoe UI"/>
              </a:rPr>
              <a:t>All results stored
History &amp; stats API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502920" y="5120640"/>
            <a:ext cx="11185855" cy="329184"/>
          </a:xfrm>
          <a:prstGeom prst="roundRect">
            <a:avLst>
              <a:gd name="adj" fmla="val 16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TECH STACK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502920" y="5541264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12F3D"/>
                </a:solidFill>
                <a:latin typeface="Segoe UI"/>
              </a:rPr>
              <a:t>  Python 3  |  Flask + Flask-CORS  |  scikit-learn (TF-IDF + LogisticRegression)  |  Vanilla HTML / CSS / JavaScript  |  SQLite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502920" y="5852160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56677"/>
                </a:solidFill>
                <a:latin typeface="Segoe UI"/>
              </a:rPr>
              <a:t>  Dataset: safety_reports_expanded_3018.csv  (</a:t>
            </a:r>
            <a:r>
              <a:rPr sz="900" b="1" i="0">
                <a:solidFill>
                  <a:srgbClr val="556677"/>
                </a:solidFill>
                <a:latin typeface="Segoe UI"/>
              </a:rPr>
              <a:t>318 original</a:t>
            </a:r>
            <a:r>
              <a:rPr sz="900" b="0" i="0">
                <a:solidFill>
                  <a:srgbClr val="556677"/>
                </a:solidFill>
                <a:latin typeface="Segoe UI"/>
              </a:rPr>
              <a:t> + </a:t>
            </a:r>
            <a:r>
              <a:rPr sz="900" b="1" i="0">
                <a:solidFill>
                  <a:srgbClr val="556677"/>
                </a:solidFill>
                <a:latin typeface="Segoe UI"/>
              </a:rPr>
              <a:t>2,700 synthetic</a:t>
            </a:r>
            <a:r>
              <a:rPr sz="900" b="0" i="0">
                <a:solidFill>
                  <a:srgbClr val="556677"/>
                </a:solidFill>
                <a:latin typeface="Segoe UI"/>
              </a:rPr>
              <a:t> = </a:t>
            </a:r>
            <a:r>
              <a:rPr sz="900" b="1" i="0">
                <a:solidFill>
                  <a:srgbClr val="556677"/>
                </a:solidFill>
                <a:latin typeface="Segoe UI"/>
              </a:rPr>
              <a:t>3,018</a:t>
            </a:r>
            <a:r>
              <a:rPr sz="900" b="0" i="0">
                <a:solidFill>
                  <a:srgbClr val="556677"/>
                </a:solidFill>
                <a:latin typeface="Segoe UI"/>
              </a:rPr>
              <a:t> total reports, balanced across HIGH/MEDIUM/LOW)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02920" y="146304"/>
            <a:ext cx="11183112" cy="731520"/>
          </a:xfrm>
        </p:spPr>
        <p:txBody>
          <a:bodyPr wrap="square" lIns="0" tIns="0" rIns="0" bIns="0" anchor="ctr"/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B47"/>
                </a:solidFill>
                <a:latin typeface="Segoe UI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102B47"/>
          </a:solidFill>
          <a:ln w="12700">
            <a:solidFill>
              <a:srgbClr val="0070C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NEXORA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5596128" y="950976"/>
            <a:ext cx="100584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078992"/>
            <a:ext cx="3606698" cy="329184"/>
          </a:xfrm>
          <a:prstGeom prst="roundRect">
            <a:avLst>
              <a:gd name="adj" fmla="val 16000"/>
            </a:avLst>
          </a:prstGeom>
          <a:solidFill>
            <a:srgbClr val="0E7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WHAT IS IMPLEMENTED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292498" y="1078992"/>
            <a:ext cx="3606698" cy="329184"/>
          </a:xfrm>
          <a:prstGeom prst="roundRect">
            <a:avLst>
              <a:gd name="adj" fmla="val 16000"/>
            </a:avLst>
          </a:prstGeom>
          <a:solidFill>
            <a:srgbClr val="B01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CHALLENGES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082076" y="1078992"/>
            <a:ext cx="3606698" cy="329184"/>
          </a:xfrm>
          <a:prstGeom prst="roundRect">
            <a:avLst>
              <a:gd name="adj" fmla="val 16000"/>
            </a:avLst>
          </a:prstGeom>
          <a:solidFill>
            <a:srgbClr val="C75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MITIGATION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02920" y="1517904"/>
            <a:ext cx="3606698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502920" y="1664207"/>
            <a:ext cx="360669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20" b="1" i="0">
                <a:solidFill>
                  <a:srgbClr val="0E743F"/>
                </a:solidFill>
                <a:latin typeface="Segoe UI"/>
              </a:rPr>
              <a:t>•</a:t>
            </a:r>
            <a:r>
              <a:rPr sz="940" b="0" i="0">
                <a:solidFill>
                  <a:srgbClr val="212F3D"/>
                </a:solidFill>
                <a:latin typeface="Segoe UI"/>
              </a:rPr>
              <a:t>  Working Flask web application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02920" y="1929384"/>
            <a:ext cx="360669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20" b="1" i="0">
                <a:solidFill>
                  <a:srgbClr val="0E743F"/>
                </a:solidFill>
                <a:latin typeface="Segoe UI"/>
              </a:rPr>
              <a:t>•</a:t>
            </a:r>
            <a:r>
              <a:rPr sz="940" b="0" i="0">
                <a:solidFill>
                  <a:srgbClr val="212F3D"/>
                </a:solidFill>
                <a:latin typeface="Segoe UI"/>
              </a:rPr>
              <a:t>  TF-IDF + Logistic Regression pipeline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502920" y="2194560"/>
            <a:ext cx="360669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20" b="1" i="0">
                <a:solidFill>
                  <a:srgbClr val="0E743F"/>
                </a:solidFill>
                <a:latin typeface="Segoe UI"/>
              </a:rPr>
              <a:t>•</a:t>
            </a:r>
            <a:r>
              <a:rPr sz="940" b="0" i="0">
                <a:solidFill>
                  <a:srgbClr val="212F3D"/>
                </a:solidFill>
                <a:latin typeface="Segoe UI"/>
              </a:rPr>
              <a:t>  Safety Consistency Guard (rule override)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02920" y="2459736"/>
            <a:ext cx="360669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20" b="1" i="0">
                <a:solidFill>
                  <a:srgbClr val="0E743F"/>
                </a:solidFill>
                <a:latin typeface="Segoe UI"/>
              </a:rPr>
              <a:t>•</a:t>
            </a:r>
            <a:r>
              <a:rPr sz="940" b="0" i="0">
                <a:solidFill>
                  <a:srgbClr val="212F3D"/>
                </a:solidFill>
                <a:latin typeface="Segoe UI"/>
              </a:rPr>
              <a:t>  9 Life-Saving Rules (keyword detection)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502920" y="2724912"/>
            <a:ext cx="360669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20" b="1" i="0">
                <a:solidFill>
                  <a:srgbClr val="0E743F"/>
                </a:solidFill>
                <a:latin typeface="Segoe UI"/>
              </a:rPr>
              <a:t>•</a:t>
            </a:r>
            <a:r>
              <a:rPr sz="940" b="0" i="0">
                <a:solidFill>
                  <a:srgbClr val="212F3D"/>
                </a:solidFill>
                <a:latin typeface="Segoe UI"/>
              </a:rPr>
              <a:t>  9 Hazard + 9 Barrier + 8 Activity types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502920" y="2990088"/>
            <a:ext cx="360669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20" b="1" i="0">
                <a:solidFill>
                  <a:srgbClr val="0E743F"/>
                </a:solidFill>
                <a:latin typeface="Segoe UI"/>
              </a:rPr>
              <a:t>•</a:t>
            </a:r>
            <a:r>
              <a:rPr sz="940" b="0" i="0">
                <a:solidFill>
                  <a:srgbClr val="212F3D"/>
                </a:solidFill>
                <a:latin typeface="Segoe UI"/>
              </a:rPr>
              <a:t>  SQLite audit trail and REST API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502920" y="3255264"/>
            <a:ext cx="360669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20" b="1" i="0">
                <a:solidFill>
                  <a:srgbClr val="0E743F"/>
                </a:solidFill>
                <a:latin typeface="Segoe UI"/>
              </a:rPr>
              <a:t>•</a:t>
            </a:r>
            <a:r>
              <a:rPr sz="940" b="0" i="0">
                <a:solidFill>
                  <a:srgbClr val="212F3D"/>
                </a:solidFill>
                <a:latin typeface="Segoe UI"/>
              </a:rPr>
              <a:t>  Model info + confusion matrix UI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502920" y="3520440"/>
            <a:ext cx="360669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20" b="1" i="0">
                <a:solidFill>
                  <a:srgbClr val="0E743F"/>
                </a:solidFill>
                <a:latin typeface="Segoe UI"/>
              </a:rPr>
              <a:t>•</a:t>
            </a:r>
            <a:r>
              <a:rPr sz="940" b="0" i="0">
                <a:solidFill>
                  <a:srgbClr val="212F3D"/>
                </a:solidFill>
                <a:latin typeface="Segoe UI"/>
              </a:rPr>
              <a:t>  No paid APIs or cloud required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4292498" y="1517904"/>
            <a:ext cx="3606698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TextBox 17423"/>
          <p:cNvSpPr txBox="1"/>
          <p:nvPr/>
        </p:nvSpPr>
        <p:spPr>
          <a:xfrm>
            <a:off x="4292498" y="1664207"/>
            <a:ext cx="360669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20" b="1" i="0">
                <a:solidFill>
                  <a:srgbClr val="B01E27"/>
                </a:solidFill>
                <a:latin typeface="Segoe UI"/>
              </a:rPr>
              <a:t>•</a:t>
            </a:r>
            <a:r>
              <a:rPr sz="940" b="0" i="0">
                <a:solidFill>
                  <a:srgbClr val="212F3D"/>
                </a:solidFill>
                <a:latin typeface="Segoe UI"/>
              </a:rPr>
              <a:t>  2,700 of 3,018 reports are synthetic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292498" y="1929384"/>
            <a:ext cx="360669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20" b="1" i="0">
                <a:solidFill>
                  <a:srgbClr val="B01E27"/>
                </a:solidFill>
                <a:latin typeface="Segoe UI"/>
              </a:rPr>
              <a:t>•</a:t>
            </a:r>
            <a:r>
              <a:rPr sz="940" b="0" i="0">
                <a:solidFill>
                  <a:srgbClr val="212F3D"/>
                </a:solidFill>
                <a:latin typeface="Segoe UI"/>
              </a:rPr>
              <a:t>  Keyword detection = exact-phrase only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292498" y="2194560"/>
            <a:ext cx="360669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20" b="1" i="0">
                <a:solidFill>
                  <a:srgbClr val="B01E27"/>
                </a:solidFill>
                <a:latin typeface="Segoe UI"/>
              </a:rPr>
              <a:t>•</a:t>
            </a:r>
            <a:r>
              <a:rPr sz="940" b="0" i="0">
                <a:solidFill>
                  <a:srgbClr val="212F3D"/>
                </a:solidFill>
                <a:latin typeface="Segoe UI"/>
              </a:rPr>
              <a:t>  Phrases outside keyword list = Not detected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292498" y="2459736"/>
            <a:ext cx="360669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20" b="1" i="0">
                <a:solidFill>
                  <a:srgbClr val="B01E27"/>
                </a:solidFill>
                <a:latin typeface="Segoe UI"/>
              </a:rPr>
              <a:t>•</a:t>
            </a:r>
            <a:r>
              <a:rPr sz="940" b="0" i="0">
                <a:solidFill>
                  <a:srgbClr val="212F3D"/>
                </a:solidFill>
                <a:latin typeface="Segoe UI"/>
              </a:rPr>
              <a:t>  Some predictions are low-confidence (&lt;50%)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292498" y="2724912"/>
            <a:ext cx="360669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20" b="1" i="0">
                <a:solidFill>
                  <a:srgbClr val="B01E27"/>
                </a:solidFill>
                <a:latin typeface="Segoe UI"/>
              </a:rPr>
              <a:t>•</a:t>
            </a:r>
            <a:r>
              <a:rPr sz="940" b="0" i="0">
                <a:solidFill>
                  <a:srgbClr val="212F3D"/>
                </a:solidFill>
                <a:latin typeface="Segoe UI"/>
              </a:rPr>
              <a:t>  Model not validated on real OIL reports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292498" y="2990088"/>
            <a:ext cx="360669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20" b="1" i="0">
                <a:solidFill>
                  <a:srgbClr val="B01E27"/>
                </a:solidFill>
                <a:latin typeface="Segoe UI"/>
              </a:rPr>
              <a:t>•</a:t>
            </a:r>
            <a:r>
              <a:rPr sz="940" b="0" i="0">
                <a:solidFill>
                  <a:srgbClr val="212F3D"/>
                </a:solidFill>
                <a:latin typeface="Segoe UI"/>
              </a:rPr>
              <a:t>  Single server; no auth/multi-user support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8082076" y="1517904"/>
            <a:ext cx="3606698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TextBox 17430"/>
          <p:cNvSpPr txBox="1"/>
          <p:nvPr/>
        </p:nvSpPr>
        <p:spPr>
          <a:xfrm>
            <a:off x="8082076" y="1664207"/>
            <a:ext cx="360669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20" b="1" i="0">
                <a:solidFill>
                  <a:srgbClr val="C75C12"/>
                </a:solidFill>
                <a:latin typeface="Segoe UI"/>
              </a:rPr>
              <a:t>•</a:t>
            </a:r>
            <a:r>
              <a:rPr sz="940" b="0" i="0">
                <a:solidFill>
                  <a:srgbClr val="212F3D"/>
                </a:solidFill>
                <a:latin typeface="Segoe UI"/>
              </a:rPr>
              <a:t>  Transparent caveat shown in Model Info tab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8082076" y="1929384"/>
            <a:ext cx="360669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20" b="1" i="0">
                <a:solidFill>
                  <a:srgbClr val="C75C12"/>
                </a:solidFill>
                <a:latin typeface="Segoe UI"/>
              </a:rPr>
              <a:t>•</a:t>
            </a:r>
            <a:r>
              <a:rPr sz="940" b="0" i="0">
                <a:solidFill>
                  <a:srgbClr val="212F3D"/>
                </a:solidFill>
                <a:latin typeface="Segoe UI"/>
              </a:rPr>
              <a:t>  Expand phrase library incrementally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8082076" y="2194560"/>
            <a:ext cx="360669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20" b="1" i="0">
                <a:solidFill>
                  <a:srgbClr val="C75C12"/>
                </a:solidFill>
                <a:latin typeface="Segoe UI"/>
              </a:rPr>
              <a:t>•</a:t>
            </a:r>
            <a:r>
              <a:rPr sz="940" b="0" i="0">
                <a:solidFill>
                  <a:srgbClr val="212F3D"/>
                </a:solidFill>
                <a:latin typeface="Segoe UI"/>
              </a:rPr>
              <a:t>  Add fuzzy / stemmed matching (future)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8082076" y="2459736"/>
            <a:ext cx="360669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20" b="1" i="0">
                <a:solidFill>
                  <a:srgbClr val="C75C12"/>
                </a:solidFill>
                <a:latin typeface="Segoe UI"/>
              </a:rPr>
              <a:t>•</a:t>
            </a:r>
            <a:r>
              <a:rPr sz="940" b="0" i="0">
                <a:solidFill>
                  <a:srgbClr val="212F3D"/>
                </a:solidFill>
                <a:latin typeface="Segoe UI"/>
              </a:rPr>
              <a:t>  Low-confidence flag alerts users to review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8082076" y="2724912"/>
            <a:ext cx="360669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20" b="1" i="0">
                <a:solidFill>
                  <a:srgbClr val="C75C12"/>
                </a:solidFill>
                <a:latin typeface="Segoe UI"/>
              </a:rPr>
              <a:t>•</a:t>
            </a:r>
            <a:r>
              <a:rPr sz="940" b="0" i="0">
                <a:solidFill>
                  <a:srgbClr val="212F3D"/>
                </a:solidFill>
                <a:latin typeface="Segoe UI"/>
              </a:rPr>
              <a:t>  Real OIL data integration as next milestone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8082076" y="2990088"/>
            <a:ext cx="360669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20" b="1" i="0">
                <a:solidFill>
                  <a:srgbClr val="C75C12"/>
                </a:solidFill>
                <a:latin typeface="Segoe UI"/>
              </a:rPr>
              <a:t>•</a:t>
            </a:r>
            <a:r>
              <a:rPr sz="940" b="0" i="0">
                <a:solidFill>
                  <a:srgbClr val="212F3D"/>
                </a:solidFill>
                <a:latin typeface="Segoe UI"/>
              </a:rPr>
              <a:t>  Production deployment &amp; auth are roadmap items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502920" y="4078224"/>
            <a:ext cx="11185855" cy="329184"/>
          </a:xfrm>
          <a:prstGeom prst="roundRect">
            <a:avLst>
              <a:gd name="adj" fmla="val 16000"/>
            </a:avLst>
          </a:prstGeom>
          <a:solidFill>
            <a:srgbClr val="10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PROTOTYPE EVALUATION EVIDENCE  (held-out 20% test split, 604 reports)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502920" y="4498848"/>
            <a:ext cx="11185855" cy="914400"/>
          </a:xfrm>
          <a:prstGeom prst="roundRect">
            <a:avLst>
              <a:gd name="adj" fmla="val 6000"/>
            </a:avLst>
          </a:prstGeom>
          <a:solidFill>
            <a:srgbClr val="ECF4FC"/>
          </a:solidFill>
          <a:ln w="9525">
            <a:solidFill>
              <a:srgbClr val="C9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9" name="TextBox 17438"/>
          <p:cNvSpPr txBox="1"/>
          <p:nvPr/>
        </p:nvSpPr>
        <p:spPr>
          <a:xfrm>
            <a:off x="612648" y="4590288"/>
            <a:ext cx="1096639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30" b="1" i="0">
                <a:solidFill>
                  <a:srgbClr val="0E743F"/>
                </a:solidFill>
                <a:latin typeface="Segoe UI"/>
              </a:rPr>
              <a:t>✓</a:t>
            </a:r>
            <a:r>
              <a:rPr sz="950" b="0" i="0">
                <a:solidFill>
                  <a:srgbClr val="212F3D"/>
                </a:solidFill>
                <a:latin typeface="Segoe UI"/>
              </a:rPr>
              <a:t>  Accuracy: </a:t>
            </a:r>
            <a:r>
              <a:rPr sz="950" b="1" i="0">
                <a:solidFill>
                  <a:srgbClr val="B45A00"/>
                </a:solidFill>
                <a:latin typeface="Segoe UI"/>
              </a:rPr>
              <a:t>98.01%</a:t>
            </a:r>
            <a:r>
              <a:rPr sz="950" b="0" i="0">
                <a:solidFill>
                  <a:srgbClr val="212F3D"/>
                </a:solidFill>
                <a:latin typeface="Segoe UI"/>
              </a:rPr>
              <a:t>  |  Precision (macro): </a:t>
            </a:r>
            <a:r>
              <a:rPr sz="950" b="1" i="0">
                <a:solidFill>
                  <a:srgbClr val="B45A00"/>
                </a:solidFill>
                <a:latin typeface="Segoe UI"/>
              </a:rPr>
              <a:t>98.04%</a:t>
            </a:r>
            <a:r>
              <a:rPr sz="950" b="0" i="0">
                <a:solidFill>
                  <a:srgbClr val="212F3D"/>
                </a:solidFill>
                <a:latin typeface="Segoe UI"/>
              </a:rPr>
              <a:t>  |  Recall (macro): </a:t>
            </a:r>
            <a:r>
              <a:rPr sz="950" b="1" i="0">
                <a:solidFill>
                  <a:srgbClr val="B45A00"/>
                </a:solidFill>
                <a:latin typeface="Segoe UI"/>
              </a:rPr>
              <a:t>98.01%</a:t>
            </a:r>
            <a:r>
              <a:rPr sz="950" b="0" i="0">
                <a:solidFill>
                  <a:srgbClr val="212F3D"/>
                </a:solidFill>
                <a:latin typeface="Segoe UI"/>
              </a:rPr>
              <a:t>  |  F1-Score (macro): </a:t>
            </a:r>
            <a:r>
              <a:rPr sz="950" b="1" i="0">
                <a:solidFill>
                  <a:srgbClr val="B45A00"/>
                </a:solidFill>
                <a:latin typeface="Segoe UI"/>
              </a:rPr>
              <a:t>98.02%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612648" y="4882896"/>
            <a:ext cx="1096639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30" b="1" i="0">
                <a:solidFill>
                  <a:srgbClr val="0E743F"/>
                </a:solidFill>
                <a:latin typeface="Segoe UI"/>
              </a:rPr>
              <a:t>✓</a:t>
            </a:r>
            <a:r>
              <a:rPr sz="950" b="0" i="0">
                <a:solidFill>
                  <a:srgbClr val="212F3D"/>
                </a:solidFill>
                <a:latin typeface="Segoe UI"/>
              </a:rPr>
              <a:t>  HIGH-risk recall: </a:t>
            </a:r>
            <a:r>
              <a:rPr sz="950" b="1" i="0">
                <a:solidFill>
                  <a:srgbClr val="B45A00"/>
                </a:solidFill>
                <a:latin typeface="Segoe UI"/>
              </a:rPr>
              <a:t>98.51%</a:t>
            </a:r>
            <a:r>
              <a:rPr sz="950" b="0" i="0">
                <a:solidFill>
                  <a:srgbClr val="212F3D"/>
                </a:solidFill>
                <a:latin typeface="Segoe UI"/>
              </a:rPr>
              <a:t>   |   Training set: </a:t>
            </a:r>
            <a:r>
              <a:rPr sz="950" b="1" i="0">
                <a:solidFill>
                  <a:srgbClr val="B45A00"/>
                </a:solidFill>
                <a:latin typeface="Segoe UI"/>
              </a:rPr>
              <a:t>2,414 reports</a:t>
            </a:r>
            <a:r>
              <a:rPr sz="950" b="0" i="0">
                <a:solidFill>
                  <a:srgbClr val="212F3D"/>
                </a:solidFill>
                <a:latin typeface="Segoe UI"/>
              </a:rPr>
              <a:t>   |   Test set: </a:t>
            </a:r>
            <a:r>
              <a:rPr sz="950" b="1" i="0">
                <a:solidFill>
                  <a:srgbClr val="B45A00"/>
                </a:solidFill>
                <a:latin typeface="Segoe UI"/>
              </a:rPr>
              <a:t>604 reports</a:t>
            </a:r>
            <a:r>
              <a:rPr sz="950" b="0" i="0">
                <a:solidFill>
                  <a:srgbClr val="212F3D"/>
                </a:solidFill>
                <a:latin typeface="Segoe UI"/>
              </a:rPr>
              <a:t>  (stratified, seed=42)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502920" y="5559552"/>
            <a:ext cx="11185855" cy="475488"/>
          </a:xfrm>
          <a:prstGeom prst="roundRect">
            <a:avLst>
              <a:gd name="adj" fmla="val 8000"/>
            </a:avLst>
          </a:prstGeom>
          <a:solidFill>
            <a:srgbClr val="FBECED"/>
          </a:solidFill>
          <a:ln w="9525">
            <a:solidFill>
              <a:srgbClr val="B01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01E27"/>
                </a:solidFill>
                <a:latin typeface="Segoe UI"/>
              </a:rPr>
              <a:t>⚠  These metrics apply to the prototype dataset (majority synthetic). Performance on unseen real-world OIL reports has not been validated.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02920" y="146304"/>
            <a:ext cx="11183112" cy="731520"/>
          </a:xfrm>
        </p:spPr>
        <p:txBody>
          <a:bodyPr wrap="square" lIns="0" tIns="0" rIns="0" bIns="0" anchor="ctr"/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B47"/>
                </a:solidFill>
                <a:latin typeface="Segoe UI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102B47"/>
          </a:solidFill>
          <a:ln w="12700">
            <a:solidFill>
              <a:srgbClr val="0070C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NEXORA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5596128" y="950976"/>
            <a:ext cx="100584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078992"/>
            <a:ext cx="11185855" cy="384048"/>
          </a:xfrm>
          <a:prstGeom prst="roundRect">
            <a:avLst>
              <a:gd name="adj" fmla="val 16000"/>
            </a:avLst>
          </a:prstGeom>
          <a:solidFill>
            <a:srgbClr val="10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TARGET USERS:   HSE Teams   |   Safety Officers   |   Field Operations   |   Safety Managers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02920" y="1554480"/>
            <a:ext cx="3606698" cy="512064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FASTER ANALYSIS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02920" y="2066543"/>
            <a:ext cx="360669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45A9E"/>
                </a:solidFill>
                <a:latin typeface="Segoe UI"/>
              </a:rPr>
              <a:t>Rapid ML-based review replaces
slow manual reading of reports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92498" y="1554480"/>
            <a:ext cx="3606698" cy="512064"/>
          </a:xfrm>
          <a:prstGeom prst="roundRect">
            <a:avLst>
              <a:gd name="adj" fmla="val 8000"/>
            </a:avLst>
          </a:prstGeom>
          <a:solidFill>
            <a:srgbClr val="B01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EARLY SIF IDENTIFICATION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292498" y="2066543"/>
            <a:ext cx="360669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45A9E"/>
                </a:solidFill>
                <a:latin typeface="Segoe UI"/>
              </a:rPr>
              <a:t>Surfaces HIGH/MEDIUM-risk reports
before they escalate to incidents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082076" y="1554480"/>
            <a:ext cx="3606698" cy="512064"/>
          </a:xfrm>
          <a:prstGeom prst="roundRect">
            <a:avLst>
              <a:gd name="adj" fmla="val 8000"/>
            </a:avLst>
          </a:prstGeom>
          <a:solidFill>
            <a:srgbClr val="14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CONSISTENT ASSESSMENT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082076" y="2066543"/>
            <a:ext cx="360669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45A9E"/>
                </a:solidFill>
                <a:latin typeface="Segoe UI"/>
              </a:rPr>
              <a:t>Repeatable keyword + ML pipeline
removes assessor subjectivity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02920" y="2761488"/>
            <a:ext cx="3606698" cy="512064"/>
          </a:xfrm>
          <a:prstGeom prst="roundRect">
            <a:avLst>
              <a:gd name="adj" fmla="val 8000"/>
            </a:avLst>
          </a:prstGeom>
          <a:solidFill>
            <a:srgbClr val="C75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RISK PRIORITIZATION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02920" y="3273552"/>
            <a:ext cx="360669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45A9E"/>
                </a:solidFill>
                <a:latin typeface="Segoe UI"/>
              </a:rPr>
              <a:t>Confidence scores + guard override
help teams focus attention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292498" y="2761488"/>
            <a:ext cx="3606698" cy="512064"/>
          </a:xfrm>
          <a:prstGeom prst="roundRect">
            <a:avLst>
              <a:gd name="adj" fmla="val 8000"/>
            </a:avLst>
          </a:prstGeom>
          <a:solidFill>
            <a:srgbClr val="0E7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STRUCTURED INTELLIGENCE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292498" y="3273552"/>
            <a:ext cx="360669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45A9E"/>
                </a:solidFill>
                <a:latin typeface="Segoe UI"/>
              </a:rPr>
              <a:t>Every report yields: Hazard, Activity,
Barrier Failure, Life-Saving Rule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8082076" y="2761488"/>
            <a:ext cx="3606698" cy="512064"/>
          </a:xfrm>
          <a:prstGeom prst="roundRect">
            <a:avLst>
              <a:gd name="adj" fmla="val 8000"/>
            </a:avLst>
          </a:prstGeom>
          <a:solidFill>
            <a:srgbClr val="2E5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HISTORICAL MONITORING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8082076" y="3273552"/>
            <a:ext cx="360669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45A9E"/>
                </a:solidFill>
                <a:latin typeface="Segoe UI"/>
              </a:rPr>
              <a:t>SQLite audit trail enables trend
analysis across all analyzed reports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502920" y="4005072"/>
            <a:ext cx="11185855" cy="329184"/>
          </a:xfrm>
          <a:prstGeom prst="roundRect">
            <a:avLst>
              <a:gd name="adj" fmla="val 16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ORGANIZATIONAL IMPACT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02920" y="4425696"/>
            <a:ext cx="11185855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80" b="1" i="0">
                <a:solidFill>
                  <a:srgbClr val="0070C0"/>
                </a:solidFill>
                <a:latin typeface="Segoe UI"/>
              </a:rPr>
              <a:t>●</a:t>
            </a:r>
            <a:r>
              <a:rPr sz="1000" b="0" i="0">
                <a:solidFill>
                  <a:srgbClr val="212F3D"/>
                </a:solidFill>
                <a:latin typeface="Segoe UI"/>
              </a:rPr>
              <a:t>  Supports proactive, data-driven safety management for HSE teams in oil &amp; gas operations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502920" y="4700016"/>
            <a:ext cx="11185855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80" b="1" i="0">
                <a:solidFill>
                  <a:srgbClr val="0070C0"/>
                </a:solidFill>
                <a:latin typeface="Segoe UI"/>
              </a:rPr>
              <a:t>●</a:t>
            </a:r>
            <a:r>
              <a:rPr sz="1000" b="0" i="0">
                <a:solidFill>
                  <a:srgbClr val="212F3D"/>
                </a:solidFill>
                <a:latin typeface="Segoe UI"/>
              </a:rPr>
              <a:t>  Provides a consistent, auditable SIF-precursor assessment process from unstructured report text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502920" y="4974336"/>
            <a:ext cx="11185855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80" b="1" i="0">
                <a:solidFill>
                  <a:srgbClr val="0070C0"/>
                </a:solidFill>
                <a:latin typeface="Segoe UI"/>
              </a:rPr>
              <a:t>●</a:t>
            </a:r>
            <a:r>
              <a:rPr sz="1000" b="0" i="0">
                <a:solidFill>
                  <a:srgbClr val="212F3D"/>
                </a:solidFill>
                <a:latin typeface="Segoe UI"/>
              </a:rPr>
              <a:t>  Helps prioritize limited HSE attention toward reports with the most critical safety evidence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502920" y="5248655"/>
            <a:ext cx="11185855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80" b="1" i="0">
                <a:solidFill>
                  <a:srgbClr val="0070C0"/>
                </a:solidFill>
                <a:latin typeface="Segoe UI"/>
              </a:rPr>
              <a:t>●</a:t>
            </a:r>
            <a:r>
              <a:rPr sz="1000" b="0" i="0">
                <a:solidFill>
                  <a:srgbClr val="212F3D"/>
                </a:solidFill>
                <a:latin typeface="Segoe UI"/>
              </a:rPr>
              <a:t>  Converts historical safety report data into structured, searchable, actionable safety intelligence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502920" y="5632703"/>
            <a:ext cx="11185855" cy="457200"/>
          </a:xfrm>
          <a:prstGeom prst="roundRect">
            <a:avLst>
              <a:gd name="adj" fmla="val 8000"/>
            </a:avLst>
          </a:prstGeom>
          <a:solidFill>
            <a:srgbClr val="FBECED"/>
          </a:solidFill>
          <a:ln w="9525">
            <a:solidFill>
              <a:srgbClr val="B01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01E27"/>
                </a:solidFill>
                <a:latin typeface="Segoe UI"/>
              </a:rPr>
              <a:t>⚠  SafetyAI supports human safety decisions — it does NOT guarantee accident prevention or replace qualified HSE professional judgment.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02920" y="146304"/>
            <a:ext cx="11183112" cy="731520"/>
          </a:xfrm>
        </p:spPr>
        <p:txBody>
          <a:bodyPr wrap="square" lIns="0" tIns="0" rIns="0" bIns="0" anchor="ctr"/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B47"/>
                </a:solidFill>
                <a:latin typeface="Segoe UI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102B47"/>
          </a:solidFill>
          <a:ln w="12700">
            <a:solidFill>
              <a:srgbClr val="0070C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NEXORA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5596128" y="950976"/>
            <a:ext cx="100584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042415"/>
            <a:ext cx="11185855" cy="329184"/>
          </a:xfrm>
          <a:prstGeom prst="roundRect">
            <a:avLst>
              <a:gd name="adj" fmla="val 16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REFERENCES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02920" y="1426464"/>
            <a:ext cx="384048" cy="310896"/>
          </a:xfrm>
          <a:prstGeom prst="roundRect">
            <a:avLst>
              <a:gd name="adj" fmla="val 8000"/>
            </a:avLst>
          </a:prstGeom>
          <a:solidFill>
            <a:srgbClr val="10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[1]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014984" y="1426464"/>
            <a:ext cx="10673791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F3D"/>
                </a:solidFill>
                <a:latin typeface="Segoe UI"/>
              </a:rPr>
              <a:t>Smart India Hackathon 2026, Problem Statement SIH26165 — Oil India Limited (OIL).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02920" y="1883664"/>
            <a:ext cx="384048" cy="310896"/>
          </a:xfrm>
          <a:prstGeom prst="roundRect">
            <a:avLst>
              <a:gd name="adj" fmla="val 8000"/>
            </a:avLst>
          </a:prstGeom>
          <a:solidFill>
            <a:srgbClr val="10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[2]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014984" y="1883664"/>
            <a:ext cx="10673791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F3D"/>
                </a:solidFill>
                <a:latin typeface="Segoe UI"/>
              </a:rPr>
              <a:t>IOGP Life-Saving Rules framework — referenced directly in model/life_saving_rules.py to define the 9 life-saving rule categories used by SafetyAI.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02920" y="2340864"/>
            <a:ext cx="384048" cy="310896"/>
          </a:xfrm>
          <a:prstGeom prst="roundRect">
            <a:avLst>
              <a:gd name="adj" fmla="val 8000"/>
            </a:avLst>
          </a:prstGeom>
          <a:solidFill>
            <a:srgbClr val="10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[3]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1014984" y="2340864"/>
            <a:ext cx="10673791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F3D"/>
                </a:solidFill>
                <a:latin typeface="Segoe UI"/>
              </a:rPr>
              <a:t>SafetyAI dataset — safety_reports_expanded_3018.csv: 318 original reports + 2,700 synthetic reports (generate_synthetic_2700.py), balanced across HIGH/MEDIUM/LOW.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02920" y="2798064"/>
            <a:ext cx="384048" cy="310896"/>
          </a:xfrm>
          <a:prstGeom prst="roundRect">
            <a:avLst>
              <a:gd name="adj" fmla="val 8000"/>
            </a:avLst>
          </a:prstGeom>
          <a:solidFill>
            <a:srgbClr val="10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[4]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014984" y="2798064"/>
            <a:ext cx="10673791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12F3D"/>
                </a:solidFill>
                <a:latin typeface="Segoe UI"/>
              </a:rPr>
              <a:t>scikit-learn: Pedregosa et al., JMLR 12, 2011 — TfidfVectorizer + LogisticRegression Pipeline.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502920" y="3291840"/>
            <a:ext cx="11185855" cy="27432"/>
          </a:xfrm>
          <a:prstGeom prst="rect">
            <a:avLst/>
          </a:prstGeom>
          <a:solidFill>
            <a:srgbClr val="C9D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Rounded Rectangle 17420"/>
          <p:cNvSpPr/>
          <p:nvPr/>
        </p:nvSpPr>
        <p:spPr>
          <a:xfrm>
            <a:off x="502920" y="3401568"/>
            <a:ext cx="11185855" cy="329184"/>
          </a:xfrm>
          <a:prstGeom prst="roundRect">
            <a:avLst>
              <a:gd name="adj" fmla="val 16000"/>
            </a:avLst>
          </a:prstGeom>
          <a:solidFill>
            <a:srgbClr val="10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FUTURE SCOPE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502920" y="3858768"/>
            <a:ext cx="5501487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80" b="1" i="0">
                <a:solidFill>
                  <a:srgbClr val="B45A00"/>
                </a:solidFill>
                <a:latin typeface="Segoe UI"/>
              </a:rPr>
              <a:t>→</a:t>
            </a:r>
            <a:r>
              <a:rPr sz="1000" b="0" i="0">
                <a:solidFill>
                  <a:srgbClr val="212F3D"/>
                </a:solidFill>
                <a:latin typeface="Segoe UI"/>
              </a:rPr>
              <a:t>  Real OIL unsafe-act / near-miss reports for training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502920" y="4151376"/>
            <a:ext cx="5501487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80" b="1" i="0">
                <a:solidFill>
                  <a:srgbClr val="B45A00"/>
                </a:solidFill>
                <a:latin typeface="Segoe UI"/>
              </a:rPr>
              <a:t>→</a:t>
            </a:r>
            <a:r>
              <a:rPr sz="1000" b="0" i="0">
                <a:solidFill>
                  <a:srgbClr val="212F3D"/>
                </a:solidFill>
                <a:latin typeface="Segoe UI"/>
              </a:rPr>
              <a:t>  Fuzzy / stemmed phrase matching for keyword detection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502920" y="4443984"/>
            <a:ext cx="5501487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80" b="1" i="0">
                <a:solidFill>
                  <a:srgbClr val="B45A00"/>
                </a:solidFill>
                <a:latin typeface="Segoe UI"/>
              </a:rPr>
              <a:t>→</a:t>
            </a:r>
            <a:r>
              <a:rPr sz="1000" b="0" i="0">
                <a:solidFill>
                  <a:srgbClr val="212F3D"/>
                </a:solidFill>
                <a:latin typeface="Segoe UI"/>
              </a:rPr>
              <a:t>  Improved handling of ambiguous / low-confidence reports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02920" y="4736592"/>
            <a:ext cx="5501487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80" b="1" i="0">
                <a:solidFill>
                  <a:srgbClr val="B45A00"/>
                </a:solidFill>
                <a:latin typeface="Segoe UI"/>
              </a:rPr>
              <a:t>→</a:t>
            </a:r>
            <a:r>
              <a:rPr sz="1000" b="0" i="0">
                <a:solidFill>
                  <a:srgbClr val="212F3D"/>
                </a:solidFill>
                <a:latin typeface="Segoe UI"/>
              </a:rPr>
              <a:t>  Per-user authentication and role-based access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187287" y="3858768"/>
            <a:ext cx="5501487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80" b="1" i="0">
                <a:solidFill>
                  <a:srgbClr val="145A9E"/>
                </a:solidFill>
                <a:latin typeface="Segoe UI"/>
              </a:rPr>
              <a:t>→</a:t>
            </a:r>
            <a:r>
              <a:rPr sz="1000" b="0" i="0">
                <a:solidFill>
                  <a:srgbClr val="212F3D"/>
                </a:solidFill>
                <a:latin typeface="Segoe UI"/>
              </a:rPr>
              <a:t>  Explainable AI (SHAP/LIME) for transparent predictions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187287" y="4151376"/>
            <a:ext cx="5501487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80" b="1" i="0">
                <a:solidFill>
                  <a:srgbClr val="145A9E"/>
                </a:solidFill>
                <a:latin typeface="Segoe UI"/>
              </a:rPr>
              <a:t>→</a:t>
            </a:r>
            <a:r>
              <a:rPr sz="1000" b="0" i="0">
                <a:solidFill>
                  <a:srgbClr val="212F3D"/>
                </a:solidFill>
                <a:latin typeface="Segoe UI"/>
              </a:rPr>
              <a:t>  Automated re-training pipeline as new reports arrive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187287" y="4443984"/>
            <a:ext cx="5501487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80" b="1" i="0">
                <a:solidFill>
                  <a:srgbClr val="145A9E"/>
                </a:solidFill>
                <a:latin typeface="Segoe UI"/>
              </a:rPr>
              <a:t>→</a:t>
            </a:r>
            <a:r>
              <a:rPr sz="1000" b="0" i="0">
                <a:solidFill>
                  <a:srgbClr val="212F3D"/>
                </a:solidFill>
                <a:latin typeface="Segoe UI"/>
              </a:rPr>
              <a:t>  Production deployment on OIL's internal safety platform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187287" y="4736592"/>
            <a:ext cx="5501487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12F3D"/>
                </a:solidFill>
                <a:latin typeface="Segoe UI"/>
              </a:rPr>
              <a:t>  </a:t>
            </a:r>
            <a:r>
              <a:rPr sz="1080" b="1" i="0">
                <a:solidFill>
                  <a:srgbClr val="145A9E"/>
                </a:solidFill>
                <a:latin typeface="Segoe UI"/>
              </a:rPr>
              <a:t>→</a:t>
            </a:r>
            <a:r>
              <a:rPr sz="1000" b="0" i="0">
                <a:solidFill>
                  <a:srgbClr val="212F3D"/>
                </a:solidFill>
                <a:latin typeface="Segoe UI"/>
              </a:rPr>
              <a:t>  Computer vision for safety-image / video analysis (future)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502920" y="5138928"/>
            <a:ext cx="5501487" cy="475488"/>
          </a:xfrm>
          <a:prstGeom prst="roundRect">
            <a:avLst>
              <a:gd name="adj" fmla="val 8000"/>
            </a:avLst>
          </a:prstGeom>
          <a:solidFill>
            <a:srgbClr val="E9F4EC"/>
          </a:solidFill>
          <a:ln w="12700">
            <a:solidFill>
              <a:srgbClr val="0E74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E743F"/>
                </a:solidFill>
                <a:latin typeface="Segoe UI"/>
              </a:rPr>
              <a:t>CURRENTLY IMPLEMENTED:  Flask web app + TF-IDF + LR + Safety Guard + SQLite + Dashboard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187287" y="5138928"/>
            <a:ext cx="5501487" cy="475488"/>
          </a:xfrm>
          <a:prstGeom prst="roundRect">
            <a:avLst>
              <a:gd name="adj" fmla="val 8000"/>
            </a:avLst>
          </a:prstGeom>
          <a:solidFill>
            <a:srgbClr val="FBF0DF"/>
          </a:solidFill>
          <a:ln w="12700">
            <a:solidFill>
              <a:srgbClr val="B4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45A00"/>
                </a:solidFill>
                <a:latin typeface="Segoe UI"/>
              </a:rPr>
              <a:t>FUTURE / PLANNED:  Real OIL data  |  Fuzzy NLP  |  XAI  |  Auto-retraining  |  CV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502920" y="5687568"/>
            <a:ext cx="11185855" cy="329184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SafetyAI  —  From Safety Reports to Structured, Actionable Risk Intelligence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7490</TotalTime>
  <Words>1221</Words>
  <Application>Microsoft Office PowerPoint</Application>
  <PresentationFormat>Widescreen</PresentationFormat>
  <Paragraphs>156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Segoe UI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MANISH GOOD</cp:lastModifiedBy>
  <cp:revision>149</cp:revision>
  <dcterms:created xsi:type="dcterms:W3CDTF">2013-12-12T18:46:50Z</dcterms:created>
  <dcterms:modified xsi:type="dcterms:W3CDTF">2026-09-16T18:34:14Z</dcterms:modified>
  <cp:category/>
</cp:coreProperties>
</file>