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/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3800" b="1">
                <a:solidFill>
                  <a:srgbClr val="FFFFFF"/>
                </a:solidFill>
              </a:rPr>
              <a:t>SAFETYAI</a:t>
            </a:r>
          </a:p>
          <a:p>
            <a:pPr algn="ctr"/>
            <a:r>
              <a:rPr sz="1600" b="0">
                <a:solidFill>
                  <a:srgbClr val="FFFFFF"/>
                </a:solidFill>
              </a:rPr>
              <a:t>AI-Powered SIF Precursor Detection</a:t>
            </a:r>
          </a:p>
          <a:p>
            <a:pPr algn="ctr"/>
            <a:r>
              <a:rPr sz="1600" b="0">
                <a:solidFill>
                  <a:srgbClr val="FFFFFF"/>
                </a:solidFill>
              </a:rPr>
              <a:t>for Safety Reports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Problem Statement ID – SIH26165</a:t>
            </a:r>
            <a:endParaRPr lang="en-US" dirty="0"/>
          </a:p>
          <a:p>
            <a:pPr algn="l"/>
            <a:r>
              <a:rPr sz="7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Problem Statement Title –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AI/NLP Engine to Detect Serious Injury &amp;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Fatality (SIF) Precursors in Safety Reports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Theme – Smart Automation</a:t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PS Category – Software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Team ID – [As Registered on SIH Portal]</a:t>
            </a:r>
          </a:p>
          <a:p>
            <a:pPr algn="l"/>
            <a:r>
              <a:rPr sz="1200" b="1">
                <a:solidFill>
                  <a:srgbClr val="FFFFFF"/>
                </a:solidFill>
              </a:rPr>
              <a:t>Team Name – NEXORA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1480" y="868680"/>
            <a:ext cx="11338560" cy="5212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t/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NEXORA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ectangle 15362"/>
          <p:cNvSpPr/>
          <p:nvPr/>
        </p:nvSpPr>
        <p:spPr>
          <a:xfrm>
            <a:off x="411480" y="914400"/>
            <a:ext cx="1056132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11480" y="1216152"/>
            <a:ext cx="10561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  ●  Safety reports (unsafe acts, unsafe conditions, near-misses) contain critical SIF precursor signals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11480" y="1481328"/>
            <a:ext cx="10561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  ●  Manual analysis is slow, inconsistent, and risks missing serious warnings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11480" y="1746504"/>
            <a:ext cx="10561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  ●  HSE teams need a fast, repeatable way to identify which reports signal potential SIF events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411480" y="2048256"/>
            <a:ext cx="10561320" cy="2743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THE SAFETYAI SOLUTION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411480" y="2350008"/>
            <a:ext cx="10561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  SafetyAI is a working web application that analyzes any free-text safety report and returns structured SIF risk intelligence.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411480" y="2743200"/>
            <a:ext cx="1572768" cy="6583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USER ENTERS
SAFETY REPORT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2002536" y="2944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</a:rPr>
              <a:t>►</a:t>
            </a:r>
          </a:p>
        </p:txBody>
      </p:sp>
      <p:sp>
        <p:nvSpPr>
          <p:cNvPr id="15371" name="Rectangle 15370"/>
          <p:cNvSpPr/>
          <p:nvPr/>
        </p:nvSpPr>
        <p:spPr>
          <a:xfrm>
            <a:off x="2185416" y="2743200"/>
            <a:ext cx="1572768" cy="658368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FLASK
BACKEND API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3776472" y="2944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</a:rPr>
              <a:t>►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3959352" y="2743200"/>
            <a:ext cx="1572768" cy="658368"/>
          </a:xfrm>
          <a:prstGeom prst="rect">
            <a:avLst/>
          </a:prstGeom>
          <a:solidFill>
            <a:srgbClr val="1F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TF-IDF +
LOGISTIC REG.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5550407" y="2944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</a:rPr>
              <a:t>►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5733288" y="2743200"/>
            <a:ext cx="1572768" cy="658368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SAFETY
CONSISTENCY GUARD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7324344" y="2944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</a:rPr>
              <a:t>►</a:t>
            </a:r>
          </a:p>
        </p:txBody>
      </p:sp>
      <p:sp>
        <p:nvSpPr>
          <p:cNvPr id="15377" name="Rectangle 15376"/>
          <p:cNvSpPr/>
          <p:nvPr/>
        </p:nvSpPr>
        <p:spPr>
          <a:xfrm>
            <a:off x="7507223" y="2743200"/>
            <a:ext cx="1572768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RISK OUTPUT
HIGH/MED/LOW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9098280" y="2944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</a:rPr>
              <a:t>►</a:t>
            </a:r>
          </a:p>
        </p:txBody>
      </p:sp>
      <p:sp>
        <p:nvSpPr>
          <p:cNvPr id="15379" name="Rectangle 15378"/>
          <p:cNvSpPr/>
          <p:nvPr/>
        </p:nvSpPr>
        <p:spPr>
          <a:xfrm>
            <a:off x="9281159" y="2743200"/>
            <a:ext cx="1572768" cy="658368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</a:rPr>
              <a:t>DASHBOARD
+ HISTORY</a:t>
            </a:r>
          </a:p>
        </p:txBody>
      </p:sp>
      <p:sp>
        <p:nvSpPr>
          <p:cNvPr id="15380" name="Rectangle 15379"/>
          <p:cNvSpPr/>
          <p:nvPr/>
        </p:nvSpPr>
        <p:spPr>
          <a:xfrm>
            <a:off x="411480" y="3493008"/>
            <a:ext cx="5212080" cy="256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WHAT IT PRODUCES</a:t>
            </a:r>
          </a:p>
        </p:txBody>
      </p:sp>
      <p:sp>
        <p:nvSpPr>
          <p:cNvPr id="15381" name="Rectangle 15380"/>
          <p:cNvSpPr/>
          <p:nvPr/>
        </p:nvSpPr>
        <p:spPr>
          <a:xfrm>
            <a:off x="5760720" y="3493008"/>
            <a:ext cx="521208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WHAT IS NOVEL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411480" y="37673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✓  SIF risk level: HIGH / MEDIUM / LOW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411480" y="39959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✓  Model confidence score (0–100%)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411480" y="42245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✓  Detected hazard (9 categories)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11480" y="44531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✓  Detected activity (8 categories)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411480" y="46817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✓  Barrier failure identified (9 types)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411480" y="49103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✓  Matched Life-Saving Rule (9 rules)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411480" y="51389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✓  Evidence-based explanation + action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5760720" y="37673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Safety Consistency Guard: rule-based override layer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5760720" y="39959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Transparent ML with feature-weight indicators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5760720" y="42245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Hybrid: ML prediction + keyword safety enrichment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5760720" y="44531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Low-confidence flagging (&lt; 50% threshold)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5760720" y="46817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Full audit trail in SQLite database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5760720" y="491032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Four-section dashboard web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822960"/>
            <a:ext cx="11338560" cy="5394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NEXORA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411480" y="914400"/>
            <a:ext cx="2377440" cy="6217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SAFETY REPORT
Text Input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11480" y="1536192"/>
            <a:ext cx="23774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003366"/>
                </a:solidFill>
              </a:rPr>
              <a:t>Free-text: unsafe act,
unsafe condition,
near-miss report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807208" y="11704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</a:rPr>
              <a:t>►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054096" y="914400"/>
            <a:ext cx="2377440" cy="621792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TEXT
PREPROCESSING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054096" y="1536192"/>
            <a:ext cx="23774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003366"/>
                </a:solidFill>
              </a:rPr>
              <a:t>lowercase  |  stop-word
removal  |  normalize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449824" y="11704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</a:rPr>
              <a:t>►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5696712" y="914400"/>
            <a:ext cx="2377440" cy="621792"/>
          </a:xfrm>
          <a:prstGeom prst="rect">
            <a:avLst/>
          </a:prstGeom>
          <a:solidFill>
            <a:srgbClr val="1F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TF-IDF
VECTORIZATION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5696712" y="1536192"/>
            <a:ext cx="23774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003366"/>
                </a:solidFill>
              </a:rPr>
              <a:t>Unigrams + bigrams
(1,2)-gram  |  min_df=1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092440" y="11704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</a:rPr>
              <a:t>►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8339328" y="914400"/>
            <a:ext cx="2377440" cy="62179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LOGISTIC
REGRESSION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8339328" y="1536192"/>
            <a:ext cx="23774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003366"/>
                </a:solidFill>
              </a:rPr>
              <a:t>sklearn Pipeline
max_iter=2000  seed=42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577840" y="1965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7E00"/>
                </a:solidFill>
              </a:rPr>
              <a:t>▼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411480" y="2240280"/>
            <a:ext cx="10561320" cy="256032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SAFETY CONSISTENCY GUARD  —  Rule-based override layer (runs in parallel with ML)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11480" y="2514600"/>
            <a:ext cx="10561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  Barrier Failure detected = 3 pts  |  Critical Hazard = 2 pts  |  Life-Saving Rule match = 1 pt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11480" y="2724912"/>
            <a:ext cx="10561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</a:rPr>
              <a:t>  Score ≥ 6 → escalate to HIGH   |   Score ≥ 3 → minimum MEDIUM   |   Score &lt; 3 → ML prediction stands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411480" y="3118104"/>
            <a:ext cx="237744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SIF RISK
CLASSIFICATION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411480" y="3712464"/>
            <a:ext cx="237744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003366"/>
                </a:solidFill>
              </a:rPr>
              <a:t>HIGH / MEDIUM / LOW
+ confidence score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2807208" y="33192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</a:rPr>
              <a:t>►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3054096" y="3118104"/>
            <a:ext cx="2377440" cy="594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SAFETY
INTELLIGENCE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3054096" y="3712464"/>
            <a:ext cx="237744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003366"/>
                </a:solidFill>
              </a:rPr>
              <a:t>Hazard  |  Activity
Barrier Failure  |  LSR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449824" y="33192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</a:rPr>
              <a:t>►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5696712" y="3118104"/>
            <a:ext cx="2377440" cy="59436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RECOMMENDED
ACTION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5696712" y="3712464"/>
            <a:ext cx="237744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003366"/>
                </a:solidFill>
              </a:rPr>
              <a:t>Rule-specific action
or risk-level action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092440" y="33192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</a:rPr>
              <a:t>►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8339328" y="3118104"/>
            <a:ext cx="2377440" cy="59436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SQLite DB
+ DASHBOARD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8339328" y="3712464"/>
            <a:ext cx="2377440" cy="347472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003366"/>
                </a:solidFill>
              </a:rPr>
              <a:t>All results stored
History &amp; stats API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411480" y="4169664"/>
            <a:ext cx="10561320" cy="256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11480" y="4443984"/>
            <a:ext cx="10561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</a:rPr>
              <a:t>  Python 3  |  Flask + Flask-CORS  |  scikit-learn (TF-IDF + LogisticRegression)  |  Vanilla HTML / CSS / JavaScript  |  SQLite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11480" y="4672584"/>
            <a:ext cx="10561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44444"/>
                </a:solidFill>
              </a:rPr>
              <a:t>  Dataset: safety_reports_expanded_3018.csv  (318 original + 2,700 synthetic = 3,018 total reports, balanced across HIGH/MEDIUM/LOW)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822960"/>
            <a:ext cx="11338560" cy="5394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NEXORA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411480" y="914400"/>
            <a:ext cx="329184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WHAT IS IMPLEMENTED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822191" y="914400"/>
            <a:ext cx="329184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7232904" y="914400"/>
            <a:ext cx="3291840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MITIGATION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11480" y="12070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Working Flask web application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11480" y="1463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TF-IDF + Logistic Regression pipeline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11480" y="17190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Safety Consistency Guard (rule override)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11480" y="19751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9 Life-Saving Rules (keyword detection)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11480" y="22311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9 Hazard + 9 Barrier + 8 Activity types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11480" y="24871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SQLite audit trail and REST API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11480" y="27432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Model info + confusion matrix UI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11480" y="29992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No paid APIs or cloud required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822191" y="12070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2,700 of 3,018 reports are synthetic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822191" y="1463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Keyword detection = exact-phrase only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822191" y="17190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Phrases outside keyword list = Not detected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822191" y="19751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Some predictions are low-confidence (&lt;50%)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822191" y="22311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Model not validated on real OIL reports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822191" y="24871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Single server; no auth/multi-user support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232904" y="12070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Transparent caveat shown in Model Info tab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232904" y="1463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Expand phrase library incrementally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232904" y="17190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Add fuzzy / stemmed matching (future)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232904" y="197510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Low-confidence flag alerts users to review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232904" y="223113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Real OIL data integration as next milestone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232904" y="24871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•  Production deployment &amp; auth are roadmap items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411480" y="3346704"/>
            <a:ext cx="1056132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PROTOTYPE EVALUATION EVIDENCE  (held-out 20% test split, 604 reports)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11480" y="3621024"/>
            <a:ext cx="10561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✓  Accuracy: 98.01%  |  Precision (macro): 98.04%  |  Recall (macro): 98.01%  |  F1-Score (macro): 98.02%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11480" y="3867912"/>
            <a:ext cx="10561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</a:rPr>
              <a:t>  ✓  HIGH-risk recall: 98.51%   |   Training set: 2,414 reports   |   Test set: 604 reports  (stratified, seed=42)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411480" y="4169663"/>
            <a:ext cx="10561320" cy="2468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C00000"/>
                </a:solidFill>
              </a:rPr>
              <a:t>⚠  These metrics apply to the prototype dataset (majority synthetic). Performance on unseen real-world OIL reports has not been validated.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822960"/>
            <a:ext cx="11338560" cy="5394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NEXORA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411480" y="914400"/>
            <a:ext cx="1056132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TARGET USERS:   HSE Teams   |   Safety Officers   |   Field Operations   |   Safety Managers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11480" y="1261872"/>
            <a:ext cx="329184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FASTER ANALYSIS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411480" y="1764792"/>
            <a:ext cx="32918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003366"/>
                </a:solidFill>
              </a:rPr>
              <a:t>Rapid ML-based review replaces
slow manual reading of reports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840480" y="1261872"/>
            <a:ext cx="329184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EARLY SIF IDENTIFICATION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840480" y="1764792"/>
            <a:ext cx="32918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003366"/>
                </a:solidFill>
              </a:rPr>
              <a:t>Surfaces HIGH/MEDIUM-risk reports
before they escalate to incidents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7269480" y="1261872"/>
            <a:ext cx="3291840" cy="5029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CONSISTENT ASSESSMENT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7269480" y="1764792"/>
            <a:ext cx="32918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003366"/>
                </a:solidFill>
              </a:rPr>
              <a:t>Repeatable keyword + ML pipeline
removes assessor subjectivity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411480" y="2331720"/>
            <a:ext cx="329184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RISK PRIORITIZATION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411480" y="2834640"/>
            <a:ext cx="32918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003366"/>
                </a:solidFill>
              </a:rPr>
              <a:t>Confidence scores + guard override
help teams focus attention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3840480" y="2331720"/>
            <a:ext cx="3291840" cy="5029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STRUCTURED INTELLIGENCE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3840480" y="2834640"/>
            <a:ext cx="32918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003366"/>
                </a:solidFill>
              </a:rPr>
              <a:t>Every report yields: Hazard, Activity,
Barrier Failure, Life-Saving Rule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7269480" y="2331720"/>
            <a:ext cx="3291840" cy="502920"/>
          </a:xfrm>
          <a:prstGeom prst="rect">
            <a:avLst/>
          </a:prstGeom>
          <a:solidFill>
            <a:srgbClr val="1F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HISTORICAL MONITORING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7269480" y="2834640"/>
            <a:ext cx="3291840" cy="384048"/>
          </a:xfrm>
          <a:prstGeom prst="rect">
            <a:avLst/>
          </a:prstGeom>
          <a:solidFill>
            <a:srgbClr val="F0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003366"/>
                </a:solidFill>
              </a:rPr>
              <a:t>SQLite audit trail enables trend
analysis across all analyzed reports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411480" y="3419856"/>
            <a:ext cx="10561320" cy="256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ORGANIZATIONAL IMPACT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11480" y="3694176"/>
            <a:ext cx="10561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  ●  Supports proactive, data-driven safety management for HSE teams in oil &amp; gas operations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11480" y="3941064"/>
            <a:ext cx="10561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  ●  Provides a consistent, auditable SIF-precursor assessment process from unstructured report text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11480" y="4187952"/>
            <a:ext cx="10561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  ●  Helps prioritize limited HSE attention toward reports with the most critical safety evidence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11480" y="4434840"/>
            <a:ext cx="10561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  ●  Converts historical safety report data into structured, searchable, actionable safety intelligence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411480" y="4736591"/>
            <a:ext cx="10561320" cy="24688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C00000"/>
                </a:solidFill>
              </a:rPr>
              <a:t>⚠  SafetyAI supports human safety decisions — it does NOT guarantee accident prevention or replace qualified HSE professional judgment.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822960"/>
            <a:ext cx="11338560" cy="5394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NEXORA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411480" y="914400"/>
            <a:ext cx="10561320" cy="2743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1216152"/>
            <a:ext cx="10561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[1]  Smart India Hackathon 2026, Problem Statement SIH26165 — Oil India Limited (OIL).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527048"/>
            <a:ext cx="10561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[2]  IOGP Life-Saving Rules framework — referenced directly in model/life_saving_rules.py to define the 9 life-saving rule categories used by SafetyAI.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11480" y="1837944"/>
            <a:ext cx="10561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[3]  SafetyAI dataset — safety_reports_expanded_3018.csv: 318 original reports + 2,700 synthetic reports (generate_synthetic_2700.py), balanced across HIGH/MEDIUM/LOW.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11480" y="2148840"/>
            <a:ext cx="10561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[4]  scikit-learn: Pedregosa et al., JMLR 12, 2011 — TfidfVectorizer + LogisticRegression Pipeline.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411480" y="2505456"/>
            <a:ext cx="1056132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411480" y="2578608"/>
            <a:ext cx="10561320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11480" y="2889504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  →  Real OIL unsafe-act / near-miss reports for training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11480" y="3145536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  →  Fuzzy / stemmed phrase matching for keyword detection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11480" y="3401568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  →  Improved handling of ambiguous / low-confidence reports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11480" y="3657600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  →  Per-user authentication and role-based access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760720" y="2889504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  →  Explainable AI (SHAP/LIME) for transparent predictions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760720" y="3145536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  →  Automated re-training pipeline as new reports arrive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760720" y="3401568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  →  Production deployment on OIL's internal safety platform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760720" y="3657600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  →  Computer vision for safety-image / video analysis (future)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411480" y="4005072"/>
            <a:ext cx="5212080" cy="292608"/>
          </a:xfrm>
          <a:prstGeom prst="rect">
            <a:avLst/>
          </a:prstGeom>
          <a:solidFill>
            <a:srgbClr val="E8F4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03366"/>
                </a:solidFill>
              </a:rPr>
              <a:t>CURRENTLY IMPLEMENTED:  Flask web app + TF-IDF + LR + Safety Guard + SQLite + Dashboard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5760720" y="4005072"/>
            <a:ext cx="5212080" cy="292608"/>
          </a:xfrm>
          <a:prstGeom prst="rect">
            <a:avLst/>
          </a:prstGeom>
          <a:solidFill>
            <a:srgbClr val="E8F4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FF8C00"/>
                </a:solidFill>
              </a:rPr>
              <a:t>FUTURE / PLANNED:  Real OIL data  |  Fuzzy NLP  |  XAI  |  Auto-retraining  |  CV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411480" y="4334256"/>
            <a:ext cx="10561320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SafetyAI  —  From Safety Reports to Structured, Actionable Risk Intelligence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