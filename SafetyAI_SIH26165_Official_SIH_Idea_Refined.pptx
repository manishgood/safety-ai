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4114800"/>
            <a:ext cx="3566160" cy="2834640"/>
          </a:xfrm>
          <a:prstGeom prst="rect">
            <a:avLst/>
          </a:prstGeom>
          <a:solidFill>
            <a:srgbClr val="1E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4754880"/>
            <a:ext cx="2651760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28600"/>
            <a:ext cx="2560320" cy="5943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28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3B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228600"/>
            <a:ext cx="256032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228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A3B"/>
                </a:solidFill>
                <a:latin typeface="Calibri"/>
              </a:rPr>
              <a:t>Problem Statement: SIH26165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SafetyAI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59E0B"/>
                </a:solidFill>
                <a:latin typeface="Calibri"/>
              </a:rPr>
              <a:t>AI-Powered SIF Precursor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for Industrial Safety 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11880"/>
            <a:ext cx="4114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Hybrid ML + Rule-Based System for automatic classification of safety reports
into HIGH / MEDIUM / LOW Serious Injury &amp; Fatality (SIF) potential levels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9160"/>
            <a:ext cx="1783080" cy="621792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18304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98.01%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4709160"/>
            <a:ext cx="1783080" cy="62179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4718304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3,018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029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Training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709160"/>
            <a:ext cx="1783080" cy="621792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18304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029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Life-Saving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4709160"/>
            <a:ext cx="1783080" cy="621792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718304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029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Target Sector: Oil &amp; Gas / Process Industries  |  HSE / Safety Analytics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40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620256"/>
            <a:ext cx="1188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Team SIH26165  |  SafetyAI — Intelligent Safety Report Analyzer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91440"/>
            <a:ext cx="1600200" cy="713232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91440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A3B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SafetyAI SIH26165  | 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960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3B"/>
                </a:solidFill>
                <a:latin typeface="Calibri"/>
              </a:rPr>
              <a:t>The Challenge in Industrial Safety Reporting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530352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44475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3B"/>
                </a:solidFill>
                <a:latin typeface="Calibri"/>
              </a:rPr>
              <a:t>📋  Volume Overload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7922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HSE teams in oil &amp; gas facilities receive hundreds of safety reports, near-misses, and observations every month.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1762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3B"/>
                </a:solidFill>
                <a:latin typeface="Calibri"/>
              </a:rPr>
              <a:t>🔍  Manual Review 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5237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Reports are reviewed manually — a slow, subjective process that depends entirely on the reviewer's expertise and workload.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90779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3B"/>
                </a:solidFill>
                <a:latin typeface="Calibri"/>
              </a:rPr>
              <a:t>⚠  Missed SIF Precursors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25526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Serious Injury &amp; Fatality (SIF) events are often preceded by detectable warning signs buried in routine reports that go unnoticed until it is too late.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63931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3B"/>
                </a:solidFill>
                <a:latin typeface="Calibri"/>
              </a:rPr>
              <a:t>❌  No Structured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9867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There is no automatic system to detect the Life-Saving Rule violated, the hazard type, the barrier failure, or recommend immediate corrective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3708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3B"/>
                </a:solidFill>
                <a:latin typeface="Calibri"/>
              </a:rPr>
              <a:t>📊  No Auditability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71830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Critical safety intelligence is not captured systematically — decisions are lost, and learning from incidents is difficult.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960120"/>
            <a:ext cx="5897880" cy="5440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02412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A3B"/>
                </a:solidFill>
                <a:latin typeface="Calibri"/>
              </a:rPr>
              <a:t>The SIF Precursor Detection Gap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508760"/>
            <a:ext cx="5303520" cy="658368"/>
          </a:xfrm>
          <a:prstGeom prst="roundRect">
            <a:avLst>
              <a:gd name="adj" fmla="val 12000"/>
            </a:avLst>
          </a:prstGeom>
          <a:solidFill>
            <a:srgbClr val="1E5F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60020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🏭  Industrial  Safety Incident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167128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404872"/>
            <a:ext cx="5303520" cy="658368"/>
          </a:xfrm>
          <a:prstGeom prst="roundRect">
            <a:avLst>
              <a:gd name="adj" fmla="val 12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49631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📋  Safety Report  Submitted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063240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300984"/>
            <a:ext cx="5303520" cy="65836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39242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👁  Manual Review  by HSE Officer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959352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197096"/>
            <a:ext cx="5303520" cy="658368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28853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❌  SIF Precursors  Missed / Delayed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855464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093208"/>
            <a:ext cx="5303520" cy="658368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51846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💀  Serious Injury  or Fatality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5989320"/>
            <a:ext cx="5715000" cy="5943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5998464"/>
            <a:ext cx="5715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A3B"/>
                </a:solidFill>
                <a:latin typeface="Calibri"/>
              </a:rPr>
              <a:t>75% of SIF events are preceded by detectable precursors — IOGP Safety Report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PROPOSED SOLUTION — SafetyAI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91440"/>
            <a:ext cx="1600200" cy="713232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91440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A3B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SafetyAI SIH26165  |  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914400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5FAB"/>
                </a:solidFill>
                <a:latin typeface="Calibri"/>
              </a:rPr>
              <a:t>A hybrid ML + rule-based system for automatic SIF precursor detection, classification, and structured safety intelligence.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11548872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" y="1389888"/>
            <a:ext cx="2212848" cy="1874519"/>
          </a:xfrm>
          <a:prstGeom prst="roundRect">
            <a:avLst>
              <a:gd name="adj" fmla="val 10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481328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Calibri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956816"/>
            <a:ext cx="2212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ML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86000"/>
            <a:ext cx="2029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1F5F9"/>
                </a:solidFill>
                <a:latin typeface="Calibri"/>
              </a:rPr>
              <a:t>TF-IDF + Logistic Regression classifies reports into HIGH / MEDIUM / LOW SIF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79192" y="1389888"/>
            <a:ext cx="2212848" cy="1874519"/>
          </a:xfrm>
          <a:prstGeom prst="roundRect">
            <a:avLst>
              <a:gd name="adj" fmla="val 10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2" y="1481328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Calibri"/>
              </a:rPr>
              <a:t>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1956816"/>
            <a:ext cx="2212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Safety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2286000"/>
            <a:ext cx="2029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1F5F9"/>
                </a:solidFill>
                <a:latin typeface="Calibri"/>
              </a:rPr>
              <a:t>Rule-based consistency guard overrides ML if critical safety evidence is detected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8344" y="1389888"/>
            <a:ext cx="2212848" cy="1874519"/>
          </a:xfrm>
          <a:prstGeom prst="roundRect">
            <a:avLst>
              <a:gd name="adj" fmla="val 10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38344" y="1481328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Calibri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8344" y="1956816"/>
            <a:ext cx="2212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Structured Intel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86000"/>
            <a:ext cx="2029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1F5F9"/>
                </a:solidFill>
                <a:latin typeface="Calibri"/>
              </a:rPr>
              <a:t>Detects Life-Saving Rule, hazard category, activity type, and barrier failure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97496" y="1389888"/>
            <a:ext cx="2212848" cy="1874519"/>
          </a:xfrm>
          <a:prstGeom prst="roundRect">
            <a:avLst>
              <a:gd name="adj" fmla="val 10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7496" y="1481328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1956816"/>
            <a:ext cx="2212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Live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2286000"/>
            <a:ext cx="2029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1F5F9"/>
                </a:solidFill>
                <a:latin typeface="Calibri"/>
              </a:rPr>
              <a:t>Real-time analytics, history log, model performance metrics, and confusion matrix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6648" y="1389888"/>
            <a:ext cx="2212848" cy="1874519"/>
          </a:xfrm>
          <a:prstGeom prst="roundRect">
            <a:avLst>
              <a:gd name="adj" fmla="val 10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8" y="1481328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Calibri"/>
              </a:rPr>
              <a:t>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1956816"/>
            <a:ext cx="2212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2286000"/>
            <a:ext cx="2029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1F5F9"/>
                </a:solidFill>
                <a:latin typeface="Calibri"/>
              </a:rPr>
              <a:t>Every analysis is stored in a SQLite database with full structured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401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3B"/>
                </a:solidFill>
                <a:latin typeface="Calibri"/>
              </a:rPr>
              <a:t>Analysis Workflow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749039"/>
            <a:ext cx="11548872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7472" y="3840480"/>
            <a:ext cx="1645920" cy="1280160"/>
          </a:xfrm>
          <a:prstGeom prst="roundRect">
            <a:avLst>
              <a:gd name="adj" fmla="val 12000"/>
            </a:avLst>
          </a:prstGeom>
          <a:solidFill>
            <a:srgbClr val="1E5F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8862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448056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Report
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3392" y="4251960"/>
            <a:ext cx="219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4560" y="3840480"/>
            <a:ext cx="1645920" cy="128016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38862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448056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TF-IDF
Vectorize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251960"/>
            <a:ext cx="219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41648" y="3840480"/>
            <a:ext cx="1645920" cy="1280160"/>
          </a:xfrm>
          <a:prstGeom prst="roundRect">
            <a:avLst>
              <a:gd name="adj" fmla="val 12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41648" y="38862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41648" y="448056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Logistic
Regression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87568" y="4251960"/>
            <a:ext cx="219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88736" y="3840480"/>
            <a:ext cx="1645920" cy="128016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88736" y="38862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88736" y="448056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Safety
Guard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34656" y="4251960"/>
            <a:ext cx="219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35824" y="3840480"/>
            <a:ext cx="1645920" cy="128016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35824" y="38862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35824" y="448056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Rule-Based
Enrichment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81744" y="4251960"/>
            <a:ext cx="219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82912" y="3840480"/>
            <a:ext cx="1645920" cy="128016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82912" y="38862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82912" y="448056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Structured
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91440"/>
            <a:ext cx="1600200" cy="713232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91440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A3B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SafetyAI SIH26165  |  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9326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3B"/>
                </a:solidFill>
                <a:latin typeface="Calibri"/>
              </a:rPr>
              <a:t>System Layers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160"/>
            <a:ext cx="566928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" y="137160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42646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682496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HTML5  •  Vanilla CSS  •  JavaScript (ES6+)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029968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Calibri"/>
              </a:rPr>
              <a:t>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2176272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1E5F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23113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WEB SERVER / API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2487168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Flask 3.x REST API  •  Flask-CORS  •  Gunicorn (Production)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834640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Calibri"/>
              </a:rPr>
              <a:t>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" y="2980944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03580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ML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291840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TF-IDF Vectorizer (1,2-gram)  →  Logistic Regression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63931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Calibri"/>
              </a:rPr>
              <a:t>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" y="3785616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8404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SAFETY CONSISTENCY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09651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Rule-based evidence scoring  •  Weighted override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443984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Calibri"/>
              </a:rPr>
              <a:t>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" y="4590288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464515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RULE-BASED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901184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Life-Saving Rules  •  Hazard Extractor  •  Barrier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5248656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Calibri"/>
              </a:rPr>
              <a:t>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" y="539496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544982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5705856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SQLite audit trail  •  Pandas CSV dataset  •  Pickle model cache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9326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3B"/>
                </a:solidFill>
                <a:latin typeface="Calibri"/>
              </a:rPr>
              <a:t>Request / Response Data Flow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280160"/>
            <a:ext cx="5650992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6208" y="1371600"/>
            <a:ext cx="329184" cy="475488"/>
          </a:xfrm>
          <a:prstGeom prst="roundRect">
            <a:avLst>
              <a:gd name="adj" fmla="val 50000"/>
            </a:avLst>
          </a:prstGeom>
          <a:solidFill>
            <a:srgbClr val="1E5F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1371600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544" y="14081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User submits report text via browser (POST /api/analyze)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6208" y="2020824"/>
            <a:ext cx="329184" cy="475488"/>
          </a:xfrm>
          <a:prstGeom prst="roundRect">
            <a:avLst>
              <a:gd name="adj" fmla="val 50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6208" y="2020824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8544" y="20574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Flask receives JSON, calls analyze_report()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6208" y="2670048"/>
            <a:ext cx="329184" cy="47548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2670048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270662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ML pipeline: TF-IDF vectorize → predict_proba() → class + confidence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6208" y="3319272"/>
            <a:ext cx="329184" cy="47548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8" y="3319272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38544" y="33558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Rule detection: Life-Saving Rule, hazard, barrier, activity identified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6208" y="3968496"/>
            <a:ext cx="329184" cy="47548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3968496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38544" y="400507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Safety Guard: compute evidence score; override if score ≥ 3.0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36208" y="4617720"/>
            <a:ext cx="329184" cy="475488"/>
          </a:xfrm>
          <a:prstGeom prst="roundRect">
            <a:avLst>
              <a:gd name="adj" fmla="val 50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4617720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8544" y="465429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build_explanation() + get_recommended_action() compose response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36208" y="5266944"/>
            <a:ext cx="329184" cy="47548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36208" y="5266944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38544" y="53035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Result saved to SQLite; full JSON returned to frontend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36208" y="5916168"/>
            <a:ext cx="329184" cy="475488"/>
          </a:xfrm>
          <a:prstGeom prst="roundRect">
            <a:avLst>
              <a:gd name="adj" fmla="val 50000"/>
            </a:avLst>
          </a:prstGeom>
          <a:solidFill>
            <a:srgbClr val="1E5F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36208" y="5916168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38544" y="59527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Dashboard renders risk badge, confidence bar, probability 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91440"/>
            <a:ext cx="1600200" cy="713232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91440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A3B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SafetyAI SIH26165  |  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5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960120"/>
            <a:ext cx="2788920" cy="4663440"/>
          </a:xfrm>
          <a:prstGeom prst="roundRect">
            <a:avLst>
              <a:gd name="adj" fmla="val 10000"/>
            </a:avLst>
          </a:prstGeom>
          <a:solidFill>
            <a:srgbClr val="1E5F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6984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🖥  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72184"/>
            <a:ext cx="25146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581912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HTML5 (semantic structure)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58568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Vanilla CSS (dark theme, glassmorphism)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935224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JavaScript ES6+ (fetch API, DOM)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3611880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Canvas API (donut chart)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4288536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No external JS frameworks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4408" y="960120"/>
            <a:ext cx="2788920" cy="4663440"/>
          </a:xfrm>
          <a:prstGeom prst="roundRect">
            <a:avLst>
              <a:gd name="adj" fmla="val 10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4408" y="106984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⚙  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01568" y="1472184"/>
            <a:ext cx="25146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1581912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Python 3.12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258568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Flask 3.x (REST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935224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Flask-CORS (cross-origin support)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611880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Gunicorn (production WSGI)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288536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Deployed on Render (cloud)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960120"/>
            <a:ext cx="2788920" cy="46634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8776" y="106984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🤖  ML &amp; NLP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45936" y="1472184"/>
            <a:ext cx="25146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1581912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scikit-learn 1.4+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258568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TF-IDF Vectorizer (1,2-gram)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2935224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Logistic Regression (max_iter=2000)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611880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sklearn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288536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Pickle (model persistence)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53144" y="960120"/>
            <a:ext cx="2788920" cy="466344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3144" y="106984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💾  DATA &amp; INFRA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90304" y="1472184"/>
            <a:ext cx="25146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17736" y="1581912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Pandas 2.2+ (CSV dataset)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2258568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NumPy (feature weights)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7736" y="2935224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SQLite (audit trail)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3611880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GitHub (version control)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4288536"/>
            <a:ext cx="2587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Render Web Services (hosting)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574243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3B"/>
                </a:solidFill>
                <a:latin typeface="Calibri"/>
              </a:rPr>
              <a:t>Safety Consistency Guard — Evidence Weights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6108192"/>
            <a:ext cx="2249424" cy="56692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6108192"/>
            <a:ext cx="2249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Barrier Failure Detected
Weight: +3.0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97480" y="6108192"/>
            <a:ext cx="2249424" cy="566928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7480" y="6108192"/>
            <a:ext cx="2249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Critical Hazard Detected
Weight: +2.0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74920" y="6108192"/>
            <a:ext cx="2249424" cy="566928"/>
          </a:xfrm>
          <a:prstGeom prst="roundRect">
            <a:avLst>
              <a:gd name="adj" fmla="val 20000"/>
            </a:avLst>
          </a:prstGeom>
          <a:solidFill>
            <a:srgbClr val="1E5F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74920" y="6108192"/>
            <a:ext cx="2249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Life-Saving Rule Match
Weight: +1.0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52360" y="6108192"/>
            <a:ext cx="2249424" cy="56692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6108192"/>
            <a:ext cx="2249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Override Threshold
Score ≥ 3.0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29800" y="6108192"/>
            <a:ext cx="2249424" cy="56692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9800" y="6108192"/>
            <a:ext cx="2249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HIGH Escalation
Score ≥ 6.0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MODEL PERFORMANCE &amp;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91440"/>
            <a:ext cx="1600200" cy="713232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91440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A3B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SafetyAI SIH26165  |  Model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6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914400"/>
            <a:ext cx="2788920" cy="1417320"/>
          </a:xfrm>
          <a:prstGeom prst="roundRect">
            <a:avLst>
              <a:gd name="adj" fmla="val 12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987552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98.01%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62763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Overall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92024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1F5F9"/>
                </a:solidFill>
                <a:latin typeface="Calibri"/>
              </a:rPr>
              <a:t>Held-out test set (604 reports)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914400"/>
            <a:ext cx="2788920" cy="141732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987552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98.02%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162763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Macro F1-Score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192024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1F5F9"/>
                </a:solidFill>
                <a:latin typeface="Calibri"/>
              </a:rPr>
              <a:t>Balanced across all 3 classes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914400"/>
            <a:ext cx="2788920" cy="141732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987552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98.51%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162763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 Risk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92024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1F5F9"/>
                </a:solidFill>
                <a:latin typeface="Calibri"/>
              </a:rPr>
              <a:t>Critical: captures almost all HIGH-risk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914400"/>
            <a:ext cx="2788920" cy="141732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987552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98.04%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162763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Macro Precision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192024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1F5F9"/>
                </a:solidFill>
                <a:latin typeface="Calibri"/>
              </a:rPr>
              <a:t>Very low false-positive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2487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3B"/>
                </a:solidFill>
                <a:latin typeface="Calibri"/>
              </a:rPr>
              <a:t>Per-Class Evaluation Metrics (20% Held-Out Test Split, 604 Reports)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834640"/>
            <a:ext cx="731520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0040" y="2907792"/>
            <a:ext cx="914400" cy="347472"/>
          </a:xfrm>
          <a:prstGeom prst="roundRect">
            <a:avLst>
              <a:gd name="adj" fmla="val 5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2907792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2907792"/>
            <a:ext cx="1188720" cy="347472"/>
          </a:xfrm>
          <a:prstGeom prst="roundRect">
            <a:avLst>
              <a:gd name="adj" fmla="val 5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1016" y="2907792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23160" y="2907792"/>
            <a:ext cx="1188720" cy="347472"/>
          </a:xfrm>
          <a:prstGeom prst="roundRect">
            <a:avLst>
              <a:gd name="adj" fmla="val 5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59736" y="2907792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11880" y="2907792"/>
            <a:ext cx="1188720" cy="347472"/>
          </a:xfrm>
          <a:prstGeom prst="roundRect">
            <a:avLst>
              <a:gd name="adj" fmla="val 5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48456" y="2907792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0600" y="2907792"/>
            <a:ext cx="914400" cy="347472"/>
          </a:xfrm>
          <a:prstGeom prst="roundRect">
            <a:avLst>
              <a:gd name="adj" fmla="val 5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37176" y="2907792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255264"/>
            <a:ext cx="539496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47472" y="3300984"/>
            <a:ext cx="822960" cy="2743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33101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332841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97.06%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332841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98.51%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332841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97.78%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33284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201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657600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47472" y="3703320"/>
            <a:ext cx="82296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37124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4440" y="37307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100.0%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37307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97.03%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37307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98.49%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00600" y="37307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202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059936"/>
            <a:ext cx="539496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47472" y="4105656"/>
            <a:ext cx="822960" cy="27432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41148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41330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97.06%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23160" y="41330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98.51%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11880" y="41330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97.78%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0600" y="4133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201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9320" y="2487168"/>
            <a:ext cx="589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3B"/>
                </a:solidFill>
                <a:latin typeface="Calibri"/>
              </a:rPr>
              <a:t>Confusion Matrix (Actual → Predicted)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2834640"/>
            <a:ext cx="589788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144768" y="2926080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3056" y="2962656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43216" y="2926080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61504" y="2962656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→ HIGH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741664" y="2926080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59952" y="2962656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→ MED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40112" y="2926080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0" y="2962656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→ LOW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44768" y="3364992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63056" y="3401568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HIGH ↓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43216" y="3364992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61504" y="3401568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198 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741664" y="3364992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59952" y="3401568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40112" y="3364992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58400" y="3401568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Calibri"/>
              </a:rPr>
              <a:t>3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44768" y="3803904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63056" y="3840480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 ↓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443216" y="3803904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61504" y="3840480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Calibri"/>
              </a:rPr>
              <a:t>3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741664" y="3803904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759952" y="3840480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196 ✓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040112" y="3803904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058400" y="3840480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Calibri"/>
              </a:rPr>
              <a:t>3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44768" y="4242816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63056" y="4279392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LOW ↓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443216" y="4242816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61504" y="4279392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Calibri"/>
              </a:rPr>
              <a:t>3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741664" y="4242816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59952" y="4279392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040112" y="4242816"/>
            <a:ext cx="1261872" cy="402336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58400" y="4279392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198 ✓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20040" y="5303520"/>
            <a:ext cx="11548872" cy="71323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535838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📦  Dataset: 3,018 reports   (318 original + 2,700 synthetic — perfectly balanced: 1,006 HIGH / 1,006 MEDIUM / 1,006 LOW)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567842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🔀  Split: 80% train (2,414) / 20% test (604) · Stratified · Random state = 42  |  0 duplicates · 0 invalid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SAFETY CONSISTENCY GUARD — Core Innovation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91440"/>
            <a:ext cx="1600200" cy="713232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91440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A3B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SafetyAI SIH26165  |  Safety Consistency 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91440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5FAB"/>
                </a:solidFill>
                <a:latin typeface="Calibri"/>
              </a:rPr>
              <a:t>The Safety Consistency Guard is SafetyAI's unique hybrid layer — it prevents the ML model from under-classifying critical safety scenarios by applying evidence-based rule logic.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160"/>
            <a:ext cx="11548872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3533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3B"/>
                </a:solidFill>
                <a:latin typeface="Calibri"/>
              </a:rPr>
              <a:t>How It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1719072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7739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Step 1 — Extract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029968"/>
            <a:ext cx="5321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From the report text:
   • Hazard category (9 types, e.g. Toxic Atmosphere, Fire/Explosion)
   • Life-Saving Rule (9 rules, e.g. Hot Work, Energy Isolation)
   • Barrier failure (9 types, e.g. Gas Testing Not Performed)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2706624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7614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Step 2 — Compute Evidence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017520"/>
            <a:ext cx="5321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Each signal adds to a weighted evidence score:
   • Barrier Failure detected     → +3.0 points
   • Critical Hazard detected     → +2.0 points
   • Life-Saving Rule matched     → +1.0 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3694176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749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Step 3 — Apply Override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005072"/>
            <a:ext cx="5321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Based on score and ML prediction:
   • Score ≥ 6.0  →  Final risk escalated to HIGH
   • Score ≥ 3.0  →  Minimum risk set to MEDIUM
   • Controls evidence detected   →  No override (suppress false alarm)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4681728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7365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Step 4 — Safety Review Flag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992624"/>
            <a:ext cx="5321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Human review is required when:
   • Any risk override is triggered
   • ML already predicts HIGH with critical evidence
   • ML confidence &lt; 50% (low confidence flag)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353312"/>
            <a:ext cx="5650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3B"/>
                </a:solidFill>
                <a:latin typeface="Calibri"/>
              </a:rPr>
              <a:t>9 Life-Saving Rules Monitored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1755648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18470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A1A3B"/>
                </a:solidFill>
                <a:latin typeface="Calibri"/>
              </a:rPr>
              <a:t>🔒  Confined Space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2340864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243230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A1A3B"/>
                </a:solidFill>
                <a:latin typeface="Calibri"/>
              </a:rPr>
              <a:t>⚡  Energy Isolation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2926080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5936" y="301752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A1A3B"/>
                </a:solidFill>
                <a:latin typeface="Calibri"/>
              </a:rPr>
              <a:t>🎯  Line of Fire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3511296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360273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A1A3B"/>
                </a:solidFill>
                <a:latin typeface="Calibri"/>
              </a:rPr>
              <a:t>🔥  Hot 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4096512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418795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A1A3B"/>
                </a:solidFill>
                <a:latin typeface="Calibri"/>
              </a:rPr>
              <a:t>🏔  Working at Height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1755648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62288" y="18470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A1A3B"/>
                </a:solidFill>
                <a:latin typeface="Calibri"/>
              </a:rPr>
              <a:t>⛏  Ground Disturbance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2340864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62288" y="243230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A1A3B"/>
                </a:solidFill>
                <a:latin typeface="Calibri"/>
              </a:rPr>
              <a:t>🏗  Lifting Operations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2926080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301752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A1A3B"/>
                </a:solidFill>
                <a:latin typeface="Calibri"/>
              </a:rPr>
              <a:t>🚗  Driving &amp; Vehicle Safety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3511296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62288" y="360273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A1A3B"/>
                </a:solidFill>
                <a:latin typeface="Calibri"/>
              </a:rPr>
              <a:t>🔌  Electrical Safety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736592"/>
            <a:ext cx="5650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A3B"/>
                </a:solidFill>
                <a:latin typeface="Calibri"/>
              </a:rPr>
              <a:t>9 Hazard Categories &amp; 9 Barrier Failure Types also detected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6208" y="5074920"/>
            <a:ext cx="1755648" cy="2743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5074920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Toxic Atmosphere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19872" y="5074920"/>
            <a:ext cx="1755648" cy="2743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19872" y="5074920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Fire/Explosion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03536" y="5074920"/>
            <a:ext cx="1755648" cy="2743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03536" y="5074920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Unexpected Startup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36208" y="5422392"/>
            <a:ext cx="1755648" cy="2743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8" y="5422392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Electrical Shock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19872" y="5422392"/>
            <a:ext cx="1755648" cy="2743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19872" y="5422392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Suspended Load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03536" y="5422392"/>
            <a:ext cx="1755648" cy="2743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03536" y="5422392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Fall from Height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36208" y="5769864"/>
            <a:ext cx="1755648" cy="2743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6208" y="5769864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Caught Between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19872" y="5769864"/>
            <a:ext cx="1755648" cy="2743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19872" y="5769864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Underground Damage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03536" y="5769864"/>
            <a:ext cx="1755648" cy="2743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03536" y="5769864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Vehicle Collision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FEASIBILITY &amp; VIABILITY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91440"/>
            <a:ext cx="1600200" cy="713232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91440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A3B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SafetyAI SIH26165  |  Feasibility &amp; Viability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8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960120"/>
            <a:ext cx="5650992" cy="2615184"/>
          </a:xfrm>
          <a:prstGeom prst="roundRect">
            <a:avLst>
              <a:gd name="adj" fmla="val 10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5468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 Technical Feasibility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89888"/>
            <a:ext cx="5376672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4721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Uses proven, production-grade Python ML libraries (scikit-learn, pandas)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18653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Flask REST API with gunicorn is a standard industry deployment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258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TF-IDF + Logistic Regression: fast inference, interpretable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651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SQLite provides zero-configuration audit trail — no external DB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044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Deployed and live on Render cloud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960120"/>
            <a:ext cx="5650992" cy="261518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051560"/>
            <a:ext cx="5468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🚀  Prototype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389888"/>
            <a:ext cx="5376672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4721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98.01% accuracy on held-out test set (604 reports)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8653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98.51% HIGH-risk recall — critical SIF precursors are rarely missed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258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Real-time API response verified in production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651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Frontend live-tested: dashboard, history, model info all functional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044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All 9 Life-Saving Rules + hazard/barrier detection verified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767328"/>
            <a:ext cx="5650992" cy="2615184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58768"/>
            <a:ext cx="5468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⚠  Current Limitations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97096"/>
            <a:ext cx="5376672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42793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Dataset is synthetic (based on safety domain knowledge)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46725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Model not yet validated on real ONGC / OIL field safety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50657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Keyword-based rule engine: may miss paraphrased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4589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No user authentication or multi-organization access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58521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Single-language support (English only)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767328"/>
            <a:ext cx="5650992" cy="2615184"/>
          </a:xfrm>
          <a:prstGeom prst="roundRect">
            <a:avLst>
              <a:gd name="adj" fmla="val 10000"/>
            </a:avLst>
          </a:prstGeom>
          <a:solidFill>
            <a:srgbClr val="1E5F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858768"/>
            <a:ext cx="5468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🔭  Mitigation &amp; Future Path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197096"/>
            <a:ext cx="5376672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42793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Pilot validation with real anonymized safety reports planned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46725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Replace/augment keyword rules with Named Entity Recognition (NER)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50657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Add BERT-based contextual classification for better generalization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54589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OAuth2 authentication + role-based access for HSE teams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58521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▸  Multi-language support (Hindi, regional languages) in future scope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IMPACT &amp;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91440"/>
            <a:ext cx="1600200" cy="713232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91440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A3B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SafetyAI SIH26165  |  Impact &amp;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93268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3B"/>
                </a:solidFill>
                <a:latin typeface="Calibri"/>
              </a:rPr>
              <a:t>Benefits for HSE Teams &amp; Safety Officers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98448"/>
            <a:ext cx="731520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" y="1389888"/>
            <a:ext cx="7178040" cy="713232"/>
          </a:xfrm>
          <a:prstGeom prst="roundRect">
            <a:avLst>
              <a:gd name="adj" fmla="val 10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444752"/>
            <a:ext cx="699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🚀  Speed &amp;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700784"/>
            <a:ext cx="6995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Reduces manual report review time — AI analyzes each report in milliseconds.
HSE officers can focus on high-priority interventions rather than reading every report.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2176272"/>
            <a:ext cx="7178040" cy="713232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231136"/>
            <a:ext cx="699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🎯  Risk Prioritization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487168"/>
            <a:ext cx="6995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Automatically surfaces HIGH and MEDIUM SIF potential reports for immediate attention.
98.51% HIGH-risk recall ensures critical precursors are rarely missed.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2962656"/>
            <a:ext cx="7178040" cy="713232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017520"/>
            <a:ext cx="699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🧠  Structured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273552"/>
            <a:ext cx="6995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Every report is enriched with: Life-Saving Rule, hazard category, activity type,
barrier failure, and evidence-based recommended corrective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" y="3749040"/>
            <a:ext cx="7178040" cy="713232"/>
          </a:xfrm>
          <a:prstGeom prst="roundRect">
            <a:avLst>
              <a:gd name="adj" fmla="val 10000"/>
            </a:avLst>
          </a:prstGeom>
          <a:solidFill>
            <a:srgbClr val="1E5F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803904"/>
            <a:ext cx="699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📊  Auditability &amp; Trend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059936"/>
            <a:ext cx="6995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Complete SQLite audit trail of all analyzed reports with timestamps.
Dashboard enables trend analysis and pattern identification over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" y="4535424"/>
            <a:ext cx="7178040" cy="713232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590288"/>
            <a:ext cx="699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🛡  Safety Consistency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846320"/>
            <a:ext cx="6995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The Safety Guard prevents ML under-classification in critical scenarios.
Human safety review is flagged whenever critical evidence is detected.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5321808"/>
            <a:ext cx="7178040" cy="713232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5376672"/>
            <a:ext cx="699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💡  Decision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5632704"/>
            <a:ext cx="6995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Provides recommended corrective actions mapped to Life-Saving Rules.
Explains the reasoning — not just a label, but actionable intelligence.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932688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3B"/>
                </a:solidFill>
                <a:latin typeface="Calibri"/>
              </a:rPr>
              <a:t>Target Beneficiaries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1298448"/>
            <a:ext cx="406908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45552" y="1444752"/>
            <a:ext cx="1920240" cy="1261872"/>
          </a:xfrm>
          <a:prstGeom prst="roundRect">
            <a:avLst>
              <a:gd name="adj" fmla="val 12000"/>
            </a:avLst>
          </a:prstGeom>
          <a:solidFill>
            <a:srgbClr val="0A1A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203911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HSE Officers
&amp; Safety Managers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02952" y="1444752"/>
            <a:ext cx="1920240" cy="1261872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02952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2952" y="203911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Plant Operations
&amp; Maintenance Teams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45552" y="2926080"/>
            <a:ext cx="1920240" cy="1261872"/>
          </a:xfrm>
          <a:prstGeom prst="roundRect">
            <a:avLst>
              <a:gd name="adj" fmla="val 12000"/>
            </a:avLst>
          </a:prstGeom>
          <a:solidFill>
            <a:srgbClr val="1E5FA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45552" y="30358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520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Incident
Investigation Teams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02952" y="2926080"/>
            <a:ext cx="1920240" cy="1261872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02952" y="30358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2952" y="3520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Safety Training
&amp; Audit Teams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45552" y="4407408"/>
            <a:ext cx="1920240" cy="1261872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45552" y="451713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45552" y="500176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Oil &amp; Gas Companies
(ONGC, OIL, Refineries)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02952" y="4407408"/>
            <a:ext cx="1920240" cy="1261872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02952" y="451713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2952" y="500176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Industrial Safety
Researchers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0040" y="6126480"/>
            <a:ext cx="11548872" cy="411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1447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E293B"/>
                </a:solidFill>
                <a:latin typeface="Calibri"/>
              </a:rPr>
              <a:t>⚠  Prototype Disclaimer: SafetyAI is a research prototype. All impact claims are based on prototype evaluation. Real-world deployment requires validation with actual operational safety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94760" cy="6858000"/>
          </a:xfrm>
          <a:prstGeom prst="rect">
            <a:avLst/>
          </a:prstGeom>
          <a:solidFill>
            <a:srgbClr val="1E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606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"/>
              </a:rPr>
              <a:t>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49808"/>
            <a:ext cx="4114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896112"/>
            <a:ext cx="7818120" cy="749808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969264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▶  Phase 2 — Real Data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21615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    Pilot with anonymized real OIL/ONGC safety reports; retrain and validate model on actual field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792224"/>
            <a:ext cx="7818120" cy="749808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865376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▶  Phase 3 — NLP Enhancement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11226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    Replace keyword rules with spaCy NER-based extraction for paraphrase-robust detection.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688336"/>
            <a:ext cx="7818120" cy="749808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761488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▶  Phase 4 — Deep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008376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    Explore fine-tuned BERT/DistilBERT for contextual classification; maintain interpretability.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584448"/>
            <a:ext cx="7818120" cy="749808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657600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▶  Phase 5 — Platform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90448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    OAuth2 login, multi-organization tenancy, report upload (PDF/CSV), email alerts for HIGH risk.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480560"/>
            <a:ext cx="7818120" cy="749808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4553712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▶  Phase 6 — Analytics &amp;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480060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    Advanced trend dashboards, exportable reports, REST API for ERP/CMMS integration.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376672"/>
            <a:ext cx="7818120" cy="749808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5449824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▶  Phase 7 — Multi-language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569671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    Hindi and regional language safety report support for broader Indian industrial adoption.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57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29844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✓  SafetyAI — SIH26165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18470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Problem: SIF precursor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39572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Solution: Hybrid ML + Rule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9443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Tech: TF-IDF + LR + Safety Guard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49300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Performance: 98.01%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04164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HIGH recall: 98.51%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5902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Deployment: Flask + Gunicorn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513892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Live on Render cloud platform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5897880"/>
            <a:ext cx="3520440" cy="5943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58978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1A3B"/>
                </a:solidFill>
                <a:latin typeface="Calibri"/>
              </a:rPr>
              <a:t>🌐  github.com/MANISHGOOD/Safety-AI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40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20256"/>
            <a:ext cx="1188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SafetyAI SIH26165  |  AI-Powered SIF Precursor Detection for Industrial Safety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