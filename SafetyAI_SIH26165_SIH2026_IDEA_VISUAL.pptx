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778240" y="0"/>
            <a:ext cx="3474720" cy="6858000"/>
          </a:xfrm>
          <a:prstGeom prst="roundRect">
            <a:avLst>
              <a:gd name="adj" fmla="val 0"/>
            </a:avLst>
          </a:prstGeom>
          <a:solidFill>
            <a:srgbClr val="0D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418320" y="1371600"/>
            <a:ext cx="2834640" cy="5486400"/>
          </a:xfrm>
          <a:prstGeom prst="roundRect">
            <a:avLst>
              <a:gd name="adj" fmla="val 8000"/>
            </a:avLst>
          </a:prstGeom>
          <a:solidFill>
            <a:srgbClr val="0D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966960" y="2743200"/>
            <a:ext cx="2286000" cy="41148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14432" y="182880"/>
            <a:ext cx="1755648" cy="694944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14432" y="182880"/>
            <a:ext cx="175564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81838"/>
                </a:solidFill>
                <a:latin typeface="Calibri"/>
              </a:rPr>
              <a:t>SMART INDIA
HACKATHON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01168"/>
            <a:ext cx="2468880" cy="347472"/>
          </a:xfrm>
          <a:prstGeom prst="roundRect">
            <a:avLst>
              <a:gd name="adj" fmla="val 40000"/>
            </a:avLst>
          </a:prstGeom>
          <a:solidFill>
            <a:srgbClr val="1A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011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59E0B"/>
                </a:solidFill>
                <a:latin typeface="Calibri"/>
              </a:rPr>
              <a:t>Problem Statement ID: SIH26165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6012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SafetyAI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47548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50592"/>
            <a:ext cx="8412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9E0B"/>
                </a:solidFill>
                <a:latin typeface="Calibri"/>
              </a:rPr>
              <a:t>AI-Powered SIF Precursor Detection for Safety 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99232"/>
            <a:ext cx="8229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  <a:latin typeface="Calibri"/>
              </a:rPr>
              <a:t>A hybrid ML + rule-based web application that classifies free-text safety reports
into HIGH / MEDIUM / LOW SIF potential and returns structured safety intelligence.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13632"/>
            <a:ext cx="1993392" cy="804672"/>
          </a:xfrm>
          <a:prstGeom prst="roundRect">
            <a:avLst>
              <a:gd name="adj" fmla="val 1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9933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98.01%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34256"/>
            <a:ext cx="19933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Test Accuracy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15184" y="3913632"/>
            <a:ext cx="1993392" cy="804672"/>
          </a:xfrm>
          <a:prstGeom prst="roundRect">
            <a:avLst>
              <a:gd name="adj" fmla="val 18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15184" y="3931920"/>
            <a:ext cx="19933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98.51%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15184" y="4334256"/>
            <a:ext cx="19933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HIGH Risk Recall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73168" y="3913632"/>
            <a:ext cx="1993392" cy="804672"/>
          </a:xfrm>
          <a:prstGeom prst="roundRect">
            <a:avLst>
              <a:gd name="adj" fmla="val 18000"/>
            </a:avLst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931920"/>
            <a:ext cx="19933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3,018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4334256"/>
            <a:ext cx="19933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Training Reports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31152" y="3913632"/>
            <a:ext cx="1993392" cy="804672"/>
          </a:xfrm>
          <a:prstGeom prst="roundRect">
            <a:avLst>
              <a:gd name="adj" fmla="val 1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31152" y="3931920"/>
            <a:ext cx="19933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9 + 9 + 8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4334256"/>
            <a:ext cx="19933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Rules·Hazards·Activities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937760"/>
            <a:ext cx="2788920" cy="32918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937760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SMART INDIA HACKATHON 2026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01568" y="4937760"/>
            <a:ext cx="2788920" cy="329184"/>
          </a:xfrm>
          <a:prstGeom prst="roundRect">
            <a:avLst>
              <a:gd name="adj" fmla="val 50000"/>
            </a:avLst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01568" y="4937760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Theme: Smart Automation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45936" y="4937760"/>
            <a:ext cx="2788920" cy="32918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45936" y="4937760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Category: Software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90304" y="4937760"/>
            <a:ext cx="2788920" cy="329184"/>
          </a:xfrm>
          <a:prstGeom prst="roundRect">
            <a:avLst>
              <a:gd name="adj" fmla="val 50000"/>
            </a:avLst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90304" y="4937760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Team: NEXORA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44068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Problem: AI/NLP Engine to Detect Serious Injury &amp; Fatality (SIF) Precursors in Safety Reports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815584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Team ID: [As Registered on SIH Portal]  |  Team Name: NEXORA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4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620256"/>
            <a:ext cx="1173449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@SIH Idea Submission Template  —  SafetyAI SIH26165  |  NEXORA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8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73736"/>
            <a:ext cx="82296" cy="5303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55448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IDEA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69494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9E0B"/>
                </a:solidFill>
                <a:latin typeface="Calibri"/>
              </a:rPr>
              <a:t>AI/NLP Engine for SIF Precursor Detection in Industrial Safety Reports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32720" y="91440"/>
            <a:ext cx="1755648" cy="694944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0" y="91440"/>
            <a:ext cx="175564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81838"/>
                </a:solidFill>
                <a:latin typeface="Calibri"/>
              </a:rPr>
              <a:t>SMART INDIA
HACKATHON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731520"/>
            <a:ext cx="1298448" cy="2286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731520"/>
            <a:ext cx="12984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81838"/>
                </a:solidFill>
                <a:latin typeface="Calibri"/>
              </a:rPr>
              <a:t>NEXORA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4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620256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@SIH Idea Submission  |  SafetyAI SIH26165  |  Team NEXORA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620256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2 / 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932688"/>
            <a:ext cx="5650992" cy="2670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932688"/>
            <a:ext cx="5650992" cy="40233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94183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⚠  THE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14264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Calibri"/>
              </a:rPr>
              <a:t>📋  Volume Overload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1700784"/>
            <a:ext cx="5376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HSE teams receive hundreds of safety reports monthly — manual review is a bottleneck.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21762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Calibri"/>
              </a:rPr>
              <a:t>⏱  Missed Precursors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" y="2450592"/>
            <a:ext cx="5376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SIF events are preceded by detectable warning signs that go unnoticed in routine reports.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2926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Calibri"/>
              </a:rPr>
              <a:t>🎯  No Structured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" y="3200400"/>
            <a:ext cx="5376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No system automatically identifies the hazard, Life-Saving Rule, barrier failure, or action needed.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932688"/>
            <a:ext cx="5779008" cy="2670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932688"/>
            <a:ext cx="5779008" cy="402336"/>
          </a:xfrm>
          <a:prstGeom prst="rect">
            <a:avLst/>
          </a:prstGeom>
          <a:solidFill>
            <a:srgbClr val="08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941832"/>
            <a:ext cx="562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✅  THE SAFETYAI 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1426464"/>
            <a:ext cx="55961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SafetyAI is a working web application that analyzes any free-text safety report
and returns structured risk intelligence in real-time.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2011680"/>
            <a:ext cx="914400" cy="749808"/>
          </a:xfrm>
          <a:prstGeom prst="roundRect">
            <a:avLst>
              <a:gd name="adj" fmla="val 12000"/>
            </a:avLst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202996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237744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5180" y="2212848"/>
            <a:ext cx="64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Calibri"/>
              </a:rPr>
              <a:t>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05472" y="2011680"/>
            <a:ext cx="914400" cy="749808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05472" y="202996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5472" y="237744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TF-IDF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4444" y="2212848"/>
            <a:ext cx="64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Calibri"/>
              </a:rPr>
              <a:t>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74736" y="2011680"/>
            <a:ext cx="914400" cy="749808"/>
          </a:xfrm>
          <a:prstGeom prst="roundRect">
            <a:avLst>
              <a:gd name="adj" fmla="val 12000"/>
            </a:avLst>
          </a:prstGeom>
          <a:solidFill>
            <a:srgbClr val="08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74736" y="202996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74736" y="237744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LR 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3708" y="2212848"/>
            <a:ext cx="64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Calibri"/>
              </a:rPr>
              <a:t>▶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2011680"/>
            <a:ext cx="914400" cy="749808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0" y="202996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237744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GUARD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62972" y="2212848"/>
            <a:ext cx="64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Calibri"/>
              </a:rPr>
              <a:t>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113264" y="2011680"/>
            <a:ext cx="914400" cy="749808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113264" y="202996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13264" y="237744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46" name="Oval 45"/>
          <p:cNvSpPr/>
          <p:nvPr/>
        </p:nvSpPr>
        <p:spPr>
          <a:xfrm>
            <a:off x="5797296" y="1920240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97296" y="1920240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48" name="Oval 47"/>
          <p:cNvSpPr/>
          <p:nvPr/>
        </p:nvSpPr>
        <p:spPr>
          <a:xfrm>
            <a:off x="6236208" y="2926080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37376" y="2871216"/>
            <a:ext cx="5376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Detects: SIF risk level, hazard category, Life-Saving Rule, barrier failure, activity type</a:t>
            </a:r>
          </a:p>
        </p:txBody>
      </p:sp>
      <p:sp>
        <p:nvSpPr>
          <p:cNvPr id="50" name="Oval 49"/>
          <p:cNvSpPr/>
          <p:nvPr/>
        </p:nvSpPr>
        <p:spPr>
          <a:xfrm>
            <a:off x="6236208" y="3182112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37376" y="3127248"/>
            <a:ext cx="5376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Safety Consistency Guard overrides ML when critical evidence is found (score ≥ 3.0)</a:t>
            </a:r>
          </a:p>
        </p:txBody>
      </p:sp>
      <p:sp>
        <p:nvSpPr>
          <p:cNvPr id="52" name="Oval 51"/>
          <p:cNvSpPr/>
          <p:nvPr/>
        </p:nvSpPr>
        <p:spPr>
          <a:xfrm>
            <a:off x="6236208" y="3438144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37376" y="3383280"/>
            <a:ext cx="5376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Returns confidence score, evidence explanation, and corrective recommended action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4320" y="3749039"/>
            <a:ext cx="5650992" cy="2450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74320" y="3749039"/>
            <a:ext cx="5650992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7472" y="375818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📤  WHAT IT PRODUCES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47472" y="420624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" y="4206240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SIF Risk Level: HIGH / MEDIUM / LOW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090672" y="420624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346704" y="4206240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Confidence Score: 0–100% model certainty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47472" y="466344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3504" y="4663440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Hazard Category: 9 types detected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090672" y="466344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346704" y="4663440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Activity Type: 8 types detected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47472" y="512064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3504" y="5120640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Barrier Failure: 9 failure types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090672" y="512064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346704" y="5120640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Life-Saving Rule: 9 rules monitored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47472" y="557784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03504" y="5577840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Recommended Action: Rule-specific guidance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144768" y="3749039"/>
            <a:ext cx="5779008" cy="2450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44768" y="3749039"/>
            <a:ext cx="5779008" cy="3657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17920" y="3758184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⭐  WHAT IS NOVEL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236208" y="424281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10528" y="4206240"/>
            <a:ext cx="5340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Safety Consistency Guard — rule-based override layer prevents ML under-classification of critical scenarios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236208" y="457200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510528" y="4535424"/>
            <a:ext cx="5340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Hybrid architecture: TF-IDF + LR prediction plus parallel keyword-based safety enrichment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236208" y="4901184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510528" y="4864608"/>
            <a:ext cx="5340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Evidence scoring with controlled context detection (suppresses false escalations)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236208" y="523036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510528" y="5193792"/>
            <a:ext cx="5340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Low-confidence flagging (&lt; 50% threshold) — alerts reviewers to manually verify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236208" y="5559552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10528" y="5522976"/>
            <a:ext cx="5340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Full SQLite audit trail: every analysis stored with structured fields and timestamp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236208" y="588873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510528" y="5852160"/>
            <a:ext cx="5340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Four-section live web dashboard: Analyze / Dashboard / History / Model Info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8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73736"/>
            <a:ext cx="82296" cy="5303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55448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TECHNICAL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69494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9E0B"/>
                </a:solidFill>
                <a:latin typeface="Calibri"/>
              </a:rPr>
              <a:t>ML Pipeline + Safety Consistency Guard + Technology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32720" y="91440"/>
            <a:ext cx="1755648" cy="694944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0" y="91440"/>
            <a:ext cx="175564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81838"/>
                </a:solidFill>
                <a:latin typeface="Calibri"/>
              </a:rPr>
              <a:t>SMART INDIA
HACKATHON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731520"/>
            <a:ext cx="1298448" cy="2286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731520"/>
            <a:ext cx="12984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81838"/>
                </a:solidFill>
                <a:latin typeface="Calibri"/>
              </a:rPr>
              <a:t>NEXORA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4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620256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@SIH Idea Submission  |  SafetyAI SIH26165  |  Team NEXORA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620256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3 / 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932688"/>
            <a:ext cx="8092440" cy="46268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932688"/>
            <a:ext cx="8092440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941832"/>
            <a:ext cx="7955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SafetyAI System Architecture  —  End-to-End Data 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" y="1371600"/>
            <a:ext cx="1783080" cy="896112"/>
          </a:xfrm>
          <a:prstGeom prst="roundRect">
            <a:avLst>
              <a:gd name="adj" fmla="val 10000"/>
            </a:avLst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" y="1426464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" y="1773936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SAFETY REPORT
Text Input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40280" y="1426464"/>
            <a:ext cx="1353312" cy="786384"/>
          </a:xfrm>
          <a:prstGeom prst="roundRect">
            <a:avLst>
              <a:gd name="adj" fmla="val 8000"/>
            </a:avLst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76856" y="1481328"/>
            <a:ext cx="126187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E68"/>
                </a:solidFill>
                <a:latin typeface="Calibri"/>
              </a:rPr>
              <a:t>Free-text: unsafe act,
unsafe condition, near-miss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80160" y="2267712"/>
            <a:ext cx="27432" cy="1463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4148" y="2286000"/>
            <a:ext cx="2194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Calibri"/>
              </a:rPr>
              <a:t>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2336" y="2450592"/>
            <a:ext cx="1783080" cy="896112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" y="2505456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" y="2852928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TF-IDF
VECTORIZATION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40280" y="2505456"/>
            <a:ext cx="1353312" cy="786384"/>
          </a:xfrm>
          <a:prstGeom prst="roundRect">
            <a:avLst>
              <a:gd name="adj" fmla="val 8000"/>
            </a:avLst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76856" y="2560320"/>
            <a:ext cx="126187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E68"/>
                </a:solidFill>
                <a:latin typeface="Calibri"/>
              </a:rPr>
              <a:t>Unigrams + bigrams (1,2)-gram
stop_words=english | min_df=1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80160" y="3346704"/>
            <a:ext cx="27432" cy="1463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4148" y="3364992"/>
            <a:ext cx="2194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Calibri"/>
              </a:rPr>
              <a:t>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2336" y="3529584"/>
            <a:ext cx="1783080" cy="896112"/>
          </a:xfrm>
          <a:prstGeom prst="roundRect">
            <a:avLst>
              <a:gd name="adj" fmla="val 10000"/>
            </a:avLst>
          </a:prstGeom>
          <a:solidFill>
            <a:srgbClr val="08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" y="358444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" y="3931920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LOGISTIC
REGRESSION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40280" y="3584448"/>
            <a:ext cx="1353312" cy="786384"/>
          </a:xfrm>
          <a:prstGeom prst="roundRect">
            <a:avLst>
              <a:gd name="adj" fmla="val 8000"/>
            </a:avLst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76856" y="3639312"/>
            <a:ext cx="126187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E68"/>
                </a:solidFill>
                <a:latin typeface="Calibri"/>
              </a:rPr>
              <a:t>sklearn Pipeline | max_iter=2000
random_state=42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80160" y="4425696"/>
            <a:ext cx="27432" cy="1463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84148" y="4443984"/>
            <a:ext cx="2194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Calibri"/>
              </a:rPr>
              <a:t>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2336" y="4608576"/>
            <a:ext cx="1783080" cy="896112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2336" y="466344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2336" y="5010912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RISK
CLASSIFICATION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40280" y="4663440"/>
            <a:ext cx="1353312" cy="786384"/>
          </a:xfrm>
          <a:prstGeom prst="roundRect">
            <a:avLst>
              <a:gd name="adj" fmla="val 8000"/>
            </a:avLst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76856" y="4718304"/>
            <a:ext cx="126187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E68"/>
                </a:solidFill>
                <a:latin typeface="Calibri"/>
              </a:rPr>
              <a:t>HIGH / MEDIUM / LOW
+ confidence score (0–100%)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22191" y="1371600"/>
            <a:ext cx="4389120" cy="3291840"/>
          </a:xfrm>
          <a:prstGeom prst="roundRect">
            <a:avLst>
              <a:gd name="adj" fmla="val 8000"/>
            </a:avLst>
          </a:prstGeom>
          <a:solidFill>
            <a:srgbClr val="F0F4FF"/>
          </a:solidFill>
          <a:ln w="1016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822191" y="1371600"/>
            <a:ext cx="4389120" cy="329184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95343" y="1399032"/>
            <a:ext cx="4242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🔍  RULE-BASED DETECTION LAYER  (parallel)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31919" y="1792224"/>
            <a:ext cx="1993392" cy="1243584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31919" y="1847088"/>
            <a:ext cx="19933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19" y="2249424"/>
            <a:ext cx="1993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Life-Saving Rule
Detection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041647" y="2633472"/>
            <a:ext cx="1773936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59935" y="2642616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59669"/>
                </a:solidFill>
                <a:latin typeface="Calibri"/>
              </a:rPr>
              <a:t>9 rules
keyword matching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35039" y="1792224"/>
            <a:ext cx="1993392" cy="1243584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35039" y="1847088"/>
            <a:ext cx="19933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☣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5039" y="2249424"/>
            <a:ext cx="1993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Hazard Category
Detection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44767" y="2633472"/>
            <a:ext cx="1773936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63055" y="2642616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DC2626"/>
                </a:solidFill>
                <a:latin typeface="Calibri"/>
              </a:rPr>
              <a:t>9 hazard types
weighted scoring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931919" y="3127248"/>
            <a:ext cx="1993392" cy="1243584"/>
          </a:xfrm>
          <a:prstGeom prst="roundRect">
            <a:avLst>
              <a:gd name="adj" fmla="val 1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931919" y="3182112"/>
            <a:ext cx="19933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🚧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31919" y="3584448"/>
            <a:ext cx="1993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Barrier Failure
Detection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41647" y="3968496"/>
            <a:ext cx="1773936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59935" y="3977640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A580C"/>
                </a:solidFill>
                <a:latin typeface="Calibri"/>
              </a:rPr>
              <a:t>9 failure types
strict matching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035039" y="3127248"/>
            <a:ext cx="1993392" cy="1243584"/>
          </a:xfrm>
          <a:prstGeom prst="roundRect">
            <a:avLst>
              <a:gd name="adj" fmla="val 10000"/>
            </a:avLst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35039" y="3182112"/>
            <a:ext cx="19933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⚙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35039" y="3584448"/>
            <a:ext cx="1993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Activity Type
Detection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44767" y="3968496"/>
            <a:ext cx="1773936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63055" y="3977640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Calibri"/>
              </a:rPr>
              <a:t>8 activity types
keyword matching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4320" y="4773168"/>
            <a:ext cx="8092440" cy="74980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02336" y="4828032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🛡  SAFETY CONSISTENCY GUARD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02336" y="5175504"/>
            <a:ext cx="1243584" cy="256032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02336" y="5175504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Barrier Failure = +3 pts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719072" y="5175504"/>
            <a:ext cx="1243584" cy="256032"/>
          </a:xfrm>
          <a:prstGeom prst="roundRect">
            <a:avLst>
              <a:gd name="adj" fmla="val 3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719072" y="5175504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Critical Hazard = +2 pts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35808" y="5175504"/>
            <a:ext cx="1243584" cy="256032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35808" y="5175504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LSR Match = +1 pt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352544" y="5175504"/>
            <a:ext cx="1243584" cy="256032"/>
          </a:xfrm>
          <a:prstGeom prst="roundRect">
            <a:avLst>
              <a:gd name="adj" fmla="val 3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352544" y="5175504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Score ≥ 6 → HIGH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669280" y="5175504"/>
            <a:ext cx="1243584" cy="256032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669280" y="5175504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Score ≥ 3 → MEDIUM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986016" y="5175504"/>
            <a:ext cx="1243584" cy="256032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986016" y="5175504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Score &lt; 3 → ML stands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503920" y="932688"/>
            <a:ext cx="3511296" cy="55412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503920" y="932688"/>
            <a:ext cx="3511296" cy="329184"/>
          </a:xfrm>
          <a:prstGeom prst="rect">
            <a:avLst/>
          </a:prstGeom>
          <a:solidFill>
            <a:srgbClr val="08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595360" y="96012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⚙  TECHNOLOGY STACK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613648" y="1353312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8613648" y="1353312"/>
            <a:ext cx="329184" cy="914400"/>
          </a:xfrm>
          <a:prstGeom prst="roundRect">
            <a:avLst>
              <a:gd name="adj" fmla="val 6000"/>
            </a:avLst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015984" y="140817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7DD2"/>
                </a:solidFill>
                <a:latin typeface="Calibri"/>
              </a:rPr>
              <a:t>🖥  FRONTEND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015984" y="1682496"/>
            <a:ext cx="2651760" cy="16459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015984" y="1737360"/>
            <a:ext cx="2852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▸  HTML5 / CSS3 / JS ES6+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015984" y="1901952"/>
            <a:ext cx="2852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▸  Canvas API (donut chart)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15984" y="2066544"/>
            <a:ext cx="2852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▸  No frameworks — pure web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613648" y="2359152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8613648" y="2359152"/>
            <a:ext cx="329184" cy="914400"/>
          </a:xfrm>
          <a:prstGeom prst="roundRect">
            <a:avLst>
              <a:gd name="adj" fmla="val 6000"/>
            </a:avLst>
          </a:prstGeom>
          <a:solidFill>
            <a:srgbClr val="08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015984" y="241401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81838"/>
                </a:solidFill>
                <a:latin typeface="Calibri"/>
              </a:rPr>
              <a:t>⚙  BACKEND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015984" y="2688336"/>
            <a:ext cx="2651760" cy="16459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015984" y="2743200"/>
            <a:ext cx="2852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▸  Python 3.12 + Flask 3.x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15984" y="2907792"/>
            <a:ext cx="2852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▸  Flask-CORS + Gunicorn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015984" y="3072384"/>
            <a:ext cx="2852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▸  Deployed: Render Cloud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613648" y="3364992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8613648" y="3364992"/>
            <a:ext cx="329184" cy="91440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015984" y="341985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  <a:latin typeface="Calibri"/>
              </a:rPr>
              <a:t>🤖  ML / NLP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15984" y="3694176"/>
            <a:ext cx="2651760" cy="16459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015984" y="3749040"/>
            <a:ext cx="2852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▸  scikit-learn Pipeline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015984" y="3913632"/>
            <a:ext cx="2852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▸  TF-IDF (1,2)-gram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015984" y="4078224"/>
            <a:ext cx="2852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▸  Logistic Regression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613648" y="4370832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8613648" y="4370832"/>
            <a:ext cx="329184" cy="914400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015984" y="442569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59669"/>
                </a:solidFill>
                <a:latin typeface="Calibri"/>
              </a:rPr>
              <a:t>💾  DATA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015984" y="4700016"/>
            <a:ext cx="2651760" cy="16459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015984" y="4754880"/>
            <a:ext cx="2852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▸  Pandas 2.2+ (CSV dataset)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015984" y="4919472"/>
            <a:ext cx="2852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▸  SQLite audit trail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015984" y="5084064"/>
            <a:ext cx="2852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▸  Pickle model cache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8613648" y="5376672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8613648" y="5376672"/>
            <a:ext cx="329184" cy="914400"/>
          </a:xfrm>
          <a:prstGeom prst="roundRect">
            <a:avLst>
              <a:gd name="adj" fmla="val 6000"/>
            </a:avLst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015984" y="543153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B21B6"/>
                </a:solidFill>
                <a:latin typeface="Calibri"/>
              </a:rPr>
              <a:t>🔗  INFRA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015984" y="5705856"/>
            <a:ext cx="2651760" cy="16459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015984" y="5760720"/>
            <a:ext cx="2852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▸  GitHub version control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015984" y="5925312"/>
            <a:ext cx="2852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▸  Render Web Services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015984" y="6089904"/>
            <a:ext cx="2852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▸  Python 3.12 runtime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274320" y="5577840"/>
            <a:ext cx="8092440" cy="292608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84048" y="5596128"/>
            <a:ext cx="7900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7DD2"/>
                </a:solidFill>
                <a:latin typeface="Calibri"/>
              </a:rPr>
              <a:t>📦  Dataset: 3,018 reports (318 original + 2,700 synthetic)  |  Balanced: 1,006 HIGH / 1,006 MEDIUM / 1,006 LOW  |  80/20 split  |  0 duplicates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8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73736"/>
            <a:ext cx="82296" cy="5303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55448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FEASIBILITY AND VIABILITY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69494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9E0B"/>
                </a:solidFill>
                <a:latin typeface="Calibri"/>
              </a:rPr>
              <a:t>Prototype implementation · Known challenges · Mitigation strategies · Evaluation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32720" y="91440"/>
            <a:ext cx="1755648" cy="694944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0" y="91440"/>
            <a:ext cx="175564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81838"/>
                </a:solidFill>
                <a:latin typeface="Calibri"/>
              </a:rPr>
              <a:t>SMART INDIA
HACKATHON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731520"/>
            <a:ext cx="1298448" cy="2286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731520"/>
            <a:ext cx="12984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81838"/>
                </a:solidFill>
                <a:latin typeface="Calibri"/>
              </a:rPr>
              <a:t>NEXORA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4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620256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@SIH Idea Submission  |  SafetyAI SIH26165  |  Team NEXORA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620256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4 / 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932688"/>
            <a:ext cx="3895344" cy="3200400"/>
          </a:xfrm>
          <a:prstGeom prst="roundRect">
            <a:avLst>
              <a:gd name="adj" fmla="val 6000"/>
            </a:avLst>
          </a:prstGeom>
          <a:solidFill>
            <a:srgbClr val="EDFBF7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932688"/>
            <a:ext cx="3895344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978408"/>
            <a:ext cx="3758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✅ WHAT IS IMPLEMENTED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147218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1408176"/>
            <a:ext cx="3511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Working Flask web app — live on Render cloud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181051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1746504"/>
            <a:ext cx="3511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TF-IDF + Logistic Regression sklearn Pipeline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214884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084832"/>
            <a:ext cx="3511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Safety Consistency Guard (rule-based override)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248716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2423160"/>
            <a:ext cx="3511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9 Life-Saving Rules (keyword detection)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2825496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2761488"/>
            <a:ext cx="3511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9 Hazard + 9 Barrier + 8 Activity types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" y="316382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3099816"/>
            <a:ext cx="3511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SQLite audit trail + full REST API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350215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438144"/>
            <a:ext cx="3511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Model Info: confusion matrix + class metrics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384048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3776472"/>
            <a:ext cx="3511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No paid APIs or external cloud services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79392" y="932688"/>
            <a:ext cx="3895344" cy="3200400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79392" y="932688"/>
            <a:ext cx="3895344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978408"/>
            <a:ext cx="3758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⚠  CHALLENGES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0" y="147218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26864" y="1408176"/>
            <a:ext cx="3511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2,700 of 3,018 reports are synthetic data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89120" y="181051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26864" y="1746504"/>
            <a:ext cx="3511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Keyword matching is exact-phrase only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89120" y="214884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26864" y="2084832"/>
            <a:ext cx="3511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Paraphrased reports = 'Not detected' result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89120" y="248716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26864" y="2423160"/>
            <a:ext cx="3511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Low-confidence predictions possible (&lt; 50%)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0" y="2825496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26864" y="2761488"/>
            <a:ext cx="3511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Not yet validated on real OIL safety reports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89120" y="316382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26864" y="3099816"/>
            <a:ext cx="3511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No user authentication or multi-user support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84464" y="932688"/>
            <a:ext cx="3895344" cy="32004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016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84464" y="932688"/>
            <a:ext cx="3895344" cy="384048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94192" y="978408"/>
            <a:ext cx="3758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🔧 MITIGATION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94192" y="147218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31936" y="1408176"/>
            <a:ext cx="3511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Transparent caveat shown in Model Info tab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394192" y="181051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31936" y="1746504"/>
            <a:ext cx="3511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Keyword library expandable by domain experts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394192" y="214884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31936" y="2084832"/>
            <a:ext cx="3511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Fuzzy / stemmed matching planned (v2)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94192" y="248716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31936" y="2423160"/>
            <a:ext cx="3511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Low-confidence flag prompts manual review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94192" y="2825496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31936" y="2761488"/>
            <a:ext cx="3511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Real OIL data integration = next milestone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394192" y="316382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31936" y="3099816"/>
            <a:ext cx="3511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Auth + multi-user access on the roadmap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74320" y="4251960"/>
            <a:ext cx="11932920" cy="402336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02336" y="4315968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🔬  PROTOTYPE EVALUATION EVIDENCE   (held-out 20% test split — 604 reports, stratified, random_state=42)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74320" y="4727448"/>
            <a:ext cx="2286000" cy="1170432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" y="4782312"/>
            <a:ext cx="2286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98.01%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5294376"/>
            <a:ext cx="1920240" cy="164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4320" y="5367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Overall
Accuracy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4320" y="56235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BFDBFF"/>
                </a:solidFill>
                <a:latin typeface="Calibri"/>
              </a:rPr>
              <a:t>604-report test set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670048" y="4727448"/>
            <a:ext cx="2286000" cy="1170432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670048" y="4782312"/>
            <a:ext cx="2286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98.04%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852928" y="5294376"/>
            <a:ext cx="1920240" cy="164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670048" y="5367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Precision
(macro)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670048" y="56235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BFDBFF"/>
                </a:solidFill>
                <a:latin typeface="Calibri"/>
              </a:rPr>
              <a:t>Balanced all 3 classes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065776" y="4727448"/>
            <a:ext cx="2286000" cy="1170432"/>
          </a:xfrm>
          <a:prstGeom prst="roundRect">
            <a:avLst>
              <a:gd name="adj" fmla="val 12000"/>
            </a:avLst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65776" y="4782312"/>
            <a:ext cx="2286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98.01%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248656" y="5294376"/>
            <a:ext cx="1920240" cy="164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65776" y="5367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Recall
(macro)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65776" y="56235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BFDBFF"/>
                </a:solidFill>
                <a:latin typeface="Calibri"/>
              </a:rPr>
              <a:t>Balanced all 3 classes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461504" y="4727448"/>
            <a:ext cx="2286000" cy="1170432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461504" y="4782312"/>
            <a:ext cx="2286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98.02%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44384" y="5294376"/>
            <a:ext cx="1920240" cy="164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61504" y="5367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F1-Score
(macro)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61504" y="56235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BFDBFF"/>
                </a:solidFill>
                <a:latin typeface="Calibri"/>
              </a:rPr>
              <a:t>Balanced all 3 classes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857232" y="4727448"/>
            <a:ext cx="2286000" cy="1170432"/>
          </a:xfrm>
          <a:prstGeom prst="roundRect">
            <a:avLst>
              <a:gd name="adj" fmla="val 12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857232" y="4782312"/>
            <a:ext cx="2286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98.51%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040112" y="5294376"/>
            <a:ext cx="1920240" cy="164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857232" y="5367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HIGH Risk
Recall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857232" y="56235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BFDBFF"/>
                </a:solidFill>
                <a:latin typeface="Calibri"/>
              </a:rPr>
              <a:t>Critical safety metric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74320" y="5486400"/>
            <a:ext cx="11932920" cy="10424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92608" y="5504688"/>
            <a:ext cx="969264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92608" y="5522976"/>
            <a:ext cx="969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CLASS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298448" y="5504688"/>
            <a:ext cx="1243584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298448" y="5522976"/>
            <a:ext cx="12435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578608" y="5504688"/>
            <a:ext cx="1243584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578608" y="5522976"/>
            <a:ext cx="12435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858768" y="5504688"/>
            <a:ext cx="1243584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858768" y="5522976"/>
            <a:ext cx="12435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F1-SCORE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138928" y="5504688"/>
            <a:ext cx="969264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138928" y="5522976"/>
            <a:ext cx="969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SUPPORT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144768" y="5504688"/>
            <a:ext cx="5952744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144768" y="5522976"/>
            <a:ext cx="5952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INTERPRETATION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92608" y="5760720"/>
            <a:ext cx="11887200" cy="237744"/>
          </a:xfrm>
          <a:prstGeom prst="rect">
            <a:avLst/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329184" y="5788152"/>
            <a:ext cx="822960" cy="18288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29184" y="578815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298448" y="576072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97.06%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578608" y="576072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98.51%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858768" y="576072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97.78%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138928" y="5760720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201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144768" y="5760720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34E68"/>
                </a:solidFill>
                <a:latin typeface="Calibri"/>
              </a:rPr>
              <a:t>Highest recall — critical SIF signals are rarely missed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92608" y="6007608"/>
            <a:ext cx="118872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329184" y="6035040"/>
            <a:ext cx="822960" cy="18288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29184" y="60350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298448" y="600760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100.0%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578608" y="600760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97.03%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858768" y="600760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98.49%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138928" y="600760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202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144768" y="6007608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34E68"/>
                </a:solidFill>
                <a:latin typeface="Calibri"/>
              </a:rPr>
              <a:t>Perfect precision — no false HIGH/LOW confusion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92608" y="6254496"/>
            <a:ext cx="11887200" cy="237744"/>
          </a:xfrm>
          <a:prstGeom prst="rect">
            <a:avLst/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329184" y="6281928"/>
            <a:ext cx="822960" cy="182880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29184" y="628192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298448" y="625449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97.06%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578608" y="625449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98.51%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858768" y="625449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97.78%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138928" y="625449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201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144768" y="6254496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34E68"/>
                </a:solidFill>
                <a:latin typeface="Calibri"/>
              </a:rPr>
              <a:t>Low risk correctly identified to reduce false alarms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8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73736"/>
            <a:ext cx="82296" cy="5303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55448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IMPACT AND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69494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9E0B"/>
                </a:solidFill>
                <a:latin typeface="Calibri"/>
              </a:rPr>
              <a:t>Target: HSE Teams  |  Safety Officers  |  Field Operations  |  Safety Managers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32720" y="91440"/>
            <a:ext cx="1755648" cy="694944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0" y="91440"/>
            <a:ext cx="175564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81838"/>
                </a:solidFill>
                <a:latin typeface="Calibri"/>
              </a:rPr>
              <a:t>SMART INDIA
HACKATHON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731520"/>
            <a:ext cx="1298448" cy="2286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731520"/>
            <a:ext cx="12984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81838"/>
                </a:solidFill>
                <a:latin typeface="Calibri"/>
              </a:rPr>
              <a:t>NEXORA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4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620256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@SIH Idea Submission  |  SafetyAI SIH26165  |  Team NEXORA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620256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5 / 6</a:t>
            </a:r>
          </a:p>
        </p:txBody>
      </p:sp>
      <p:sp>
        <p:nvSpPr>
          <p:cNvPr id="14" name="Oval 13"/>
          <p:cNvSpPr/>
          <p:nvPr/>
        </p:nvSpPr>
        <p:spPr>
          <a:xfrm>
            <a:off x="5257800" y="2633472"/>
            <a:ext cx="1682496" cy="1682496"/>
          </a:xfrm>
          <a:prstGeom prst="ellipse">
            <a:avLst/>
          </a:prstGeom>
          <a:solidFill>
            <a:srgbClr val="08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2633472"/>
            <a:ext cx="1682496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  <a:latin typeface="Calibri"/>
              </a:rPr>
              <a:t>Safety
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63225" y="2683763"/>
            <a:ext cx="41432" cy="333756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36167" y="1751075"/>
            <a:ext cx="2606040" cy="1207008"/>
          </a:xfrm>
          <a:prstGeom prst="roundRect">
            <a:avLst>
              <a:gd name="adj" fmla="val 12000"/>
            </a:avLst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45895" y="1824227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⚡  FASTER ANALYSIS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45895" y="2189987"/>
            <a:ext cx="2386584" cy="164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45895" y="2263139"/>
            <a:ext cx="2468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ML-based review in milliseconds
replaces slow manual reading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63225" y="3931920"/>
            <a:ext cx="41432" cy="333756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36167" y="3991356"/>
            <a:ext cx="2606040" cy="1207008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45895" y="40645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🎯  EARLY SIF DETECTION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45895" y="4430268"/>
            <a:ext cx="2386584" cy="164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45895" y="4503420"/>
            <a:ext cx="2468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Surfaces HIGH/MEDIUM-risk reports
before they escalate to incidents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9048" y="4389120"/>
            <a:ext cx="13716" cy="66751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96028" y="5111496"/>
            <a:ext cx="2606040" cy="1207008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05756" y="51846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🔄  CONSISTENT SCORING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05756" y="5550408"/>
            <a:ext cx="2386584" cy="164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05756" y="5623560"/>
            <a:ext cx="2468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Repeatable ML+keyword pipeline
eliminates assessor subjectivity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7154" y="3931920"/>
            <a:ext cx="41432" cy="333756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855888" y="3991356"/>
            <a:ext cx="2606040" cy="1207008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5616" y="40645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🔍  RISK PRIORITIZATION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65616" y="4430268"/>
            <a:ext cx="2386584" cy="164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65616" y="4503420"/>
            <a:ext cx="2468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Confidence scores + Guard override
focus attention on critical reports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07154" y="2683764"/>
            <a:ext cx="41432" cy="333756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855888" y="1751076"/>
            <a:ext cx="2606040" cy="1207008"/>
          </a:xfrm>
          <a:prstGeom prst="roundRect">
            <a:avLst>
              <a:gd name="adj" fmla="val 12000"/>
            </a:avLst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65616" y="182422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🧠  STRUCTURED INTEL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65616" y="2189988"/>
            <a:ext cx="2386584" cy="164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65616" y="2263140"/>
            <a:ext cx="2468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Every report → Hazard, Barrier,
Activity, LSR + recommended action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9048" y="1892808"/>
            <a:ext cx="13716" cy="66751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796028" y="630936"/>
            <a:ext cx="2606040" cy="1207008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05756" y="7040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💾  HISTORICAL MONITORING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05756" y="1069848"/>
            <a:ext cx="2386584" cy="164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05756" y="1143000"/>
            <a:ext cx="2468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SQLite audit trail enables
trend analysis across all reports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4320" y="5596128"/>
            <a:ext cx="11932920" cy="896112"/>
          </a:xfrm>
          <a:prstGeom prst="roundRect">
            <a:avLst>
              <a:gd name="adj" fmla="val 6000"/>
            </a:avLst>
          </a:prstGeom>
          <a:solidFill>
            <a:srgbClr val="08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2336" y="56509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ORGANIZATIONAL IMPACT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02336" y="5980176"/>
            <a:ext cx="2816352" cy="384048"/>
          </a:xfrm>
          <a:prstGeom prst="roundRect">
            <a:avLst>
              <a:gd name="adj" fmla="val 8000"/>
            </a:avLst>
          </a:prstGeom>
          <a:solidFill>
            <a:srgbClr val="14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3776" y="5998464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Proactive, data-driven safety management for oil &amp; gas HSE teams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310128" y="5980176"/>
            <a:ext cx="2816352" cy="384048"/>
          </a:xfrm>
          <a:prstGeom prst="roundRect">
            <a:avLst>
              <a:gd name="adj" fmla="val 8000"/>
            </a:avLst>
          </a:prstGeom>
          <a:solidFill>
            <a:srgbClr val="14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01568" y="5998464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Consistent, auditable SIF-precursor assessment from unstructured text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20" y="5980176"/>
            <a:ext cx="2816352" cy="384048"/>
          </a:xfrm>
          <a:prstGeom prst="roundRect">
            <a:avLst>
              <a:gd name="adj" fmla="val 8000"/>
            </a:avLst>
          </a:prstGeom>
          <a:solidFill>
            <a:srgbClr val="14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5998464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Prioritize limited HSE attention toward the most critical safety evidence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25712" y="5980176"/>
            <a:ext cx="2816352" cy="384048"/>
          </a:xfrm>
          <a:prstGeom prst="roundRect">
            <a:avLst>
              <a:gd name="adj" fmla="val 8000"/>
            </a:avLst>
          </a:prstGeom>
          <a:solidFill>
            <a:srgbClr val="14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17152" y="5998464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Convert historical report data into structured, searchable intelligence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2336" y="6419088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59E0B"/>
                </a:solidFill>
                <a:latin typeface="Calibri"/>
              </a:rPr>
              <a:t>⚠  SafetyAI supports human safety decisions. It does NOT guarantee accident prevention or replace qualified HSE professionals.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8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73736"/>
            <a:ext cx="82296" cy="5303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55448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RESEARCH AND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69494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9E0B"/>
                </a:solidFill>
                <a:latin typeface="Calibri"/>
              </a:rPr>
              <a:t>Supporting references, future development roadmap, and implementation status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32720" y="91440"/>
            <a:ext cx="1755648" cy="694944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0" y="91440"/>
            <a:ext cx="175564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81838"/>
                </a:solidFill>
                <a:latin typeface="Calibri"/>
              </a:rPr>
              <a:t>SMART INDIA
HACKATHON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731520"/>
            <a:ext cx="1298448" cy="2286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731520"/>
            <a:ext cx="12984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81838"/>
                </a:solidFill>
                <a:latin typeface="Calibri"/>
              </a:rPr>
              <a:t>NEXORA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4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620256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@SIH Idea Submission  |  SafetyAI SIH26165  |  Team NEXORA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620256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6 / 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932688"/>
            <a:ext cx="5650992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081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932688"/>
            <a:ext cx="5650992" cy="365760"/>
          </a:xfrm>
          <a:prstGeom prst="rect">
            <a:avLst/>
          </a:prstGeom>
          <a:solidFill>
            <a:srgbClr val="08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95097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📚  REFERENCES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1389888"/>
            <a:ext cx="402336" cy="329184"/>
          </a:xfrm>
          <a:prstGeom prst="roundRect">
            <a:avLst>
              <a:gd name="adj" fmla="val 30000"/>
            </a:avLst>
          </a:prstGeom>
          <a:solidFill>
            <a:srgbClr val="08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417320"/>
            <a:ext cx="402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[1]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1389888"/>
            <a:ext cx="50109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Smart India Hackathon 2026, Problem Statement SIH26165
Oil India Limited (OIL) — AI/NLP Engine for SIF Precursor Detection.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1956816"/>
            <a:ext cx="402336" cy="329184"/>
          </a:xfrm>
          <a:prstGeom prst="roundRect">
            <a:avLst>
              <a:gd name="adj" fmla="val 30000"/>
            </a:avLst>
          </a:prstGeom>
          <a:solidFill>
            <a:srgbClr val="08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1984248"/>
            <a:ext cx="402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[2]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1956816"/>
            <a:ext cx="50109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IOGP Life-Saving Rules Framework
Referenced in model/life_saving_rules.py — defines all 9 monitored rules.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2523744"/>
            <a:ext cx="402336" cy="329184"/>
          </a:xfrm>
          <a:prstGeom prst="roundRect">
            <a:avLst>
              <a:gd name="adj" fmla="val 30000"/>
            </a:avLst>
          </a:prstGeom>
          <a:solidFill>
            <a:srgbClr val="08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551176"/>
            <a:ext cx="402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[3]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2523744"/>
            <a:ext cx="50109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SafetyAI Dataset — safety_reports_expanded_3018.csv
318 original reports + 2,700 domain-expert synthetic reports (balanced).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090672"/>
            <a:ext cx="402336" cy="329184"/>
          </a:xfrm>
          <a:prstGeom prst="roundRect">
            <a:avLst>
              <a:gd name="adj" fmla="val 30000"/>
            </a:avLst>
          </a:prstGeom>
          <a:solidFill>
            <a:srgbClr val="08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118104"/>
            <a:ext cx="402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[4]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3090672"/>
            <a:ext cx="50109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scikit-learn: Pedregosa et al., JMLR 12, 2011
TfidfVectorizer + LogisticRegression — the core ML pipeline.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3657600"/>
            <a:ext cx="402336" cy="329184"/>
          </a:xfrm>
          <a:prstGeom prst="roundRect">
            <a:avLst>
              <a:gd name="adj" fmla="val 30000"/>
            </a:avLst>
          </a:prstGeom>
          <a:solidFill>
            <a:srgbClr val="08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685032"/>
            <a:ext cx="402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[5]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3657600"/>
            <a:ext cx="50109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IOGP Safety Performance Indicators 2022 Report
Industry SIF benchmarks and annual safety data statistics.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08192" y="932688"/>
            <a:ext cx="580644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932688"/>
            <a:ext cx="580644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950976"/>
            <a:ext cx="5623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🔭  FUTURE SCOPE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9632" y="1389888"/>
            <a:ext cx="1005840" cy="347472"/>
          </a:xfrm>
          <a:prstGeom prst="roundRect">
            <a:avLst>
              <a:gd name="adj" fmla="val 30000"/>
            </a:avLst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9632" y="138988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138988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7DD2"/>
                </a:solidFill>
                <a:latin typeface="Calibri"/>
              </a:rPr>
              <a:t>Real OIL Data: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1591056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Pilot with anonymized real OIL/ONGC safety reports; retrain and validate.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9632" y="1883664"/>
            <a:ext cx="1005840" cy="347472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99632" y="188366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188366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9488"/>
                </a:solidFill>
                <a:latin typeface="Calibri"/>
              </a:rPr>
              <a:t>NLP Enhancement: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9480" y="2084832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Fuzzy/stemmed matching + spaCy NER for paraphrase-robust detection.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99632" y="2377440"/>
            <a:ext cx="1005840" cy="347472"/>
          </a:xfrm>
          <a:prstGeom prst="roundRect">
            <a:avLst>
              <a:gd name="adj" fmla="val 30000"/>
            </a:avLst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9632" y="237744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23774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B21B6"/>
                </a:solidFill>
                <a:latin typeface="Calibri"/>
              </a:rPr>
              <a:t>Explainable AI: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2578608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SHAP/LIME integration for transparent, interpretable ML predictions.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99632" y="2871216"/>
            <a:ext cx="1005840" cy="347472"/>
          </a:xfrm>
          <a:prstGeom prst="roundRect">
            <a:avLst>
              <a:gd name="adj" fmla="val 30000"/>
            </a:avLst>
          </a:prstGeom>
          <a:solidFill>
            <a:srgbClr val="08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99632" y="287121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69480" y="287121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81838"/>
                </a:solidFill>
                <a:latin typeface="Calibri"/>
              </a:rPr>
              <a:t>Platform Features: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3072384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OAuth2 login, multi-org tenancy, PDF/CSV report upload, email alerts.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99632" y="3364992"/>
            <a:ext cx="1005840" cy="347472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99632" y="33649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Phase 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69480" y="336499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alibri"/>
              </a:rPr>
              <a:t>Auto-Retraining: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9480" y="3566160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Automated retraining pipeline as new reports arrive from the field.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99632" y="3858768"/>
            <a:ext cx="1005840" cy="347472"/>
          </a:xfrm>
          <a:prstGeom prst="roundRect">
            <a:avLst>
              <a:gd name="adj" fmla="val 3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99632" y="38587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Phase 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69480" y="38587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  <a:latin typeface="Calibri"/>
              </a:rPr>
              <a:t>Vision Extension: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9480" y="4059936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Computer vision for safety-image and video analysis in future scope.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74320" y="4535424"/>
            <a:ext cx="11932920" cy="365760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2336" y="459028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✅  CURRENTLY IMPLEMENTED:  Flask web app  |  TF-IDF + LR pipeline  |  Safety Guard  |  SQLite  |  Live Dashboard  |  Deployed on Render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74320" y="4956048"/>
            <a:ext cx="11932920" cy="365760"/>
          </a:xfrm>
          <a:prstGeom prst="roundRect">
            <a:avLst>
              <a:gd name="adj" fmla="val 30000"/>
            </a:avLst>
          </a:prstGeom>
          <a:solidFill>
            <a:srgbClr val="E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02336" y="501091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59669"/>
                </a:solidFill>
                <a:latin typeface="Calibri"/>
              </a:rPr>
              <a:t>🔭  FUTURE / PLANNED:  Real OIL data  |  Fuzzy NLP  |  Explainable AI (SHAP/LIME)  |  Auto-retraining pipeline  |  Computer Vision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74320" y="5102352"/>
            <a:ext cx="11932920" cy="1316736"/>
          </a:xfrm>
          <a:prstGeom prst="roundRect">
            <a:avLst>
              <a:gd name="adj" fmla="val 8000"/>
            </a:avLst>
          </a:prstGeom>
          <a:solidFill>
            <a:srgbClr val="08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5248656"/>
            <a:ext cx="11567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SafetyAI  —  From Safety Reports to Structured, Actionable Risk Intelligence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931920" y="5852160"/>
            <a:ext cx="4297680" cy="42062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931920" y="5852160"/>
            <a:ext cx="4297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81838"/>
                </a:solidFill>
                <a:latin typeface="Calibri"/>
              </a:rPr>
              <a:t>🌐  github.com/MANISHGOOD/Safety-AI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